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356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356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view-0" descr="figS8_interface.record.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000"/>
            <a:ext cx="3132000" cy="2043907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3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5" name="caption-0"/>
          <p:cNvSpPr txBox="1"/>
          <p:nvPr/>
        </p:nvSpPr>
        <p:spPr>
          <a:xfrm>
            <a:off x="324000" y="18000"/>
            <a:ext cx="280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A30"/>
                </a:solidFill>
                <a:latin typeface="Arial"/>
              </a:rPr>
              <a:t>Preparation record with source-linked inputs</a:t>
            </a:r>
          </a:p>
        </p:txBody>
      </p:sp>
      <p:pic>
        <p:nvPicPr>
          <p:cNvPr id="6" name="view-1" descr="figS8_interface.costs.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396000"/>
            <a:ext cx="3132000" cy="3132000"/>
          </a:xfrm>
          <a:prstGeom prst="rect">
            <a:avLst/>
          </a:prstGeom>
        </p:spPr>
      </p:pic>
      <p:sp>
        <p:nvSpPr>
          <p:cNvPr id="7" name="panel-b"/>
          <p:cNvSpPr txBox="1"/>
          <p:nvPr/>
        </p:nvSpPr>
        <p:spPr>
          <a:xfrm>
            <a:off x="331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8" name="caption-1"/>
          <p:cNvSpPr txBox="1"/>
          <p:nvPr/>
        </p:nvSpPr>
        <p:spPr>
          <a:xfrm>
            <a:off x="3600000" y="18000"/>
            <a:ext cx="280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A30"/>
                </a:solidFill>
                <a:latin typeface="Arial"/>
              </a:rPr>
              <a:t>Batch cost contributions by operation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356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view-0" descr="figS8_interface.record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000"/>
            <a:ext cx="3132000" cy="2043907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3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5" name="caption-0"/>
          <p:cNvSpPr txBox="1"/>
          <p:nvPr/>
        </p:nvSpPr>
        <p:spPr>
          <a:xfrm>
            <a:off x="324000" y="18000"/>
            <a:ext cx="280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A30"/>
                </a:solidFill>
                <a:latin typeface="Malgun Gothic"/>
              </a:rPr>
              <a:t>출처가 연결된 입력을 담은 제조 기록</a:t>
            </a:r>
          </a:p>
        </p:txBody>
      </p:sp>
      <p:pic>
        <p:nvPicPr>
          <p:cNvPr id="6" name="view-1" descr="figS8_interface.costs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396000"/>
            <a:ext cx="3132000" cy="3132000"/>
          </a:xfrm>
          <a:prstGeom prst="rect">
            <a:avLst/>
          </a:prstGeom>
        </p:spPr>
      </p:pic>
      <p:sp>
        <p:nvSpPr>
          <p:cNvPr id="7" name="panel-b"/>
          <p:cNvSpPr txBox="1"/>
          <p:nvPr/>
        </p:nvSpPr>
        <p:spPr>
          <a:xfrm>
            <a:off x="331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8" name="caption-1"/>
          <p:cNvSpPr txBox="1"/>
          <p:nvPr/>
        </p:nvSpPr>
        <p:spPr>
          <a:xfrm>
            <a:off x="3600000" y="18000"/>
            <a:ext cx="280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A30"/>
                </a:solidFill>
                <a:latin typeface="Malgun Gothic"/>
              </a:rPr>
              <a:t>조작별 배치 비용 기여분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