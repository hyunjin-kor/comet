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25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figS7_allocation.text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2116928"/>
          </a:xfrm>
          <a:prstGeom prst="rect">
            <a:avLst/>
          </a:prstGeom>
        </p:spPr>
      </p:pic>
      <p:sp>
        <p:nvSpPr>
          <p:cNvPr id="4" name="stage-0"/>
          <p:cNvSpPr txBox="1"/>
          <p:nvPr/>
        </p:nvSpPr>
        <p:spPr>
          <a:xfrm>
            <a:off x="72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Solution aliquot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(volume fraction)</a:t>
            </a:r>
          </a:p>
        </p:txBody>
      </p:sp>
      <p:sp>
        <p:nvSpPr>
          <p:cNvPr id="5" name="stage-1"/>
          <p:cNvSpPr txBox="1"/>
          <p:nvPr/>
        </p:nvSpPr>
        <p:spPr>
          <a:xfrm>
            <a:off x="2196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Intermediate transfer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(mass fraction)</a:t>
            </a:r>
          </a:p>
        </p:txBody>
      </p:sp>
      <p:sp>
        <p:nvSpPr>
          <p:cNvPr id="6" name="stage-2"/>
          <p:cNvSpPr txBox="1"/>
          <p:nvPr/>
        </p:nvSpPr>
        <p:spPr>
          <a:xfrm>
            <a:off x="4500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Final batch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Arial"/>
              </a:rPr>
              <a:t>(dry mass)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figS7_allocation.text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2116928"/>
          </a:xfrm>
          <a:prstGeom prst="rect">
            <a:avLst/>
          </a:prstGeom>
        </p:spPr>
      </p:pic>
      <p:sp>
        <p:nvSpPr>
          <p:cNvPr id="4" name="stage-0"/>
          <p:cNvSpPr txBox="1"/>
          <p:nvPr/>
        </p:nvSpPr>
        <p:spPr>
          <a:xfrm>
            <a:off x="72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용액 분취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(부피 분율)</a:t>
            </a:r>
          </a:p>
        </p:txBody>
      </p:sp>
      <p:sp>
        <p:nvSpPr>
          <p:cNvPr id="5" name="stage-1"/>
          <p:cNvSpPr txBox="1"/>
          <p:nvPr/>
        </p:nvSpPr>
        <p:spPr>
          <a:xfrm>
            <a:off x="2196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중간체 이전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(질량 분율)</a:t>
            </a:r>
          </a:p>
        </p:txBody>
      </p:sp>
      <p:sp>
        <p:nvSpPr>
          <p:cNvPr id="6" name="stage-2"/>
          <p:cNvSpPr txBox="1"/>
          <p:nvPr/>
        </p:nvSpPr>
        <p:spPr>
          <a:xfrm>
            <a:off x="4500000" y="21420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최종 배치</a:t>
            </a:r>
          </a:p>
          <a:p>
            <a:pPr algn="ctr"/>
            <a:r>
              <a:rPr sz="950" b="0">
                <a:solidFill>
                  <a:srgbClr val="1F2A30"/>
                </a:solidFill>
                <a:latin typeface="Malgun Gothic"/>
              </a:rPr>
              <a:t>(건조 질량)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