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6408000" cy="511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COMET figure deck, 2026-09-16. Numeric panels are matplotlib renders of the frozen COMET analysis files (see panels/panels.json); they are not editable data. Conceptual artwork is identified in artwork-provenance.json. Labels and panel letters are native slide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Editable COMET figure deck, 2026-09-16. Numeric panels are matplotlib renders of the frozen COMET analysis files (see panels/panels.json); they are not editable data. Conceptual artwork is identified in artwork-provenance.json. Labels and panel letters are native slide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6408000" cy="511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artwork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61200"/>
            <a:ext cx="6407994" cy="2135998"/>
          </a:xfrm>
          <a:prstGeom prst="rect">
            <a:avLst/>
          </a:prstGeom>
        </p:spPr>
      </p:pic>
      <p:sp>
        <p:nvSpPr>
          <p:cNvPr id="4" name="">
            <a:extLst>
              <a:ext uri="{FF2B5EF4-FFF2-40B4-BE49-F238E27FC236}">
                <a16:creationId xmlns:a16="http://schemas.microsoft.com/office/drawing/2014/main" id="{E959E80A-B554-4549-AF73-CE4703CAB0CB}"/>
              </a:ext>
            </a:extLst>
          </p:cNvPr>
          <p:cNvSpPr>
            <a:spLocks noGrp="0"/>
          </p:cNvSpPr>
          <p:nvPr/>
        </p:nvSpPr>
        <p:spPr>
          <a:xfrm>
            <a:off x="96119" y="152742"/>
            <a:ext cx="1089359" cy="21970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325" b="1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F2A30"/>
                </a:solidFill>
                <a:latin typeface="Arial"/>
                <a:ea typeface="Arial"/>
                <a:cs typeface="Arial"/>
              </a:rPr>
              <a:t>Impregnation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CEAFBAF7-90A8-49C2-9399-D4BBF11E99A8}"/>
              </a:ext>
            </a:extLst>
          </p:cNvPr>
          <p:cNvSpPr>
            <a:spLocks noGrp="0"/>
          </p:cNvSpPr>
          <p:nvPr/>
        </p:nvSpPr>
        <p:spPr>
          <a:xfrm>
            <a:off x="96119" y="1905786"/>
            <a:ext cx="1089359" cy="21970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Time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E332E074-C8FC-48AF-879F-1C60FA87B790}"/>
              </a:ext>
            </a:extLst>
          </p:cNvPr>
          <p:cNvSpPr>
            <a:spLocks noGrp="0"/>
          </p:cNvSpPr>
          <p:nvPr/>
        </p:nvSpPr>
        <p:spPr>
          <a:xfrm>
            <a:off x="1249558" y="152742"/>
            <a:ext cx="1089359" cy="21970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325" b="1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F2A30"/>
                </a:solidFill>
                <a:latin typeface="Arial"/>
                <a:ea typeface="Arial"/>
                <a:cs typeface="Arial"/>
              </a:rPr>
              <a:t>Drying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FC91C1BF-9EE4-4328-84D3-B5657418A1F0}"/>
              </a:ext>
            </a:extLst>
          </p:cNvPr>
          <p:cNvSpPr>
            <a:spLocks noGrp="0"/>
          </p:cNvSpPr>
          <p:nvPr/>
        </p:nvSpPr>
        <p:spPr>
          <a:xfrm>
            <a:off x="1249558" y="1905786"/>
            <a:ext cx="1089359" cy="21970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Time / energy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982C6FAF-4911-4A1C-A16F-2C82E768CA1F}"/>
              </a:ext>
            </a:extLst>
          </p:cNvPr>
          <p:cNvSpPr>
            <a:spLocks noGrp="0"/>
          </p:cNvSpPr>
          <p:nvPr/>
        </p:nvSpPr>
        <p:spPr>
          <a:xfrm>
            <a:off x="2402997" y="152742"/>
            <a:ext cx="1089359" cy="21970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325" b="1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F2A30"/>
                </a:solidFill>
                <a:latin typeface="Arial"/>
                <a:ea typeface="Arial"/>
                <a:cs typeface="Arial"/>
              </a:rPr>
              <a:t>Calcination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7EF088E8-3254-434E-9042-8A6185EF1F6C}"/>
              </a:ext>
            </a:extLst>
          </p:cNvPr>
          <p:cNvSpPr>
            <a:spLocks noGrp="0"/>
          </p:cNvSpPr>
          <p:nvPr/>
        </p:nvSpPr>
        <p:spPr>
          <a:xfrm>
            <a:off x="2402997" y="1905786"/>
            <a:ext cx="1089359" cy="21970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Time / energy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AB7D8FAD-F5F5-429C-9B9B-A4DCFFB06404}"/>
              </a:ext>
            </a:extLst>
          </p:cNvPr>
          <p:cNvSpPr>
            <a:spLocks noGrp="0"/>
          </p:cNvSpPr>
          <p:nvPr/>
        </p:nvSpPr>
        <p:spPr>
          <a:xfrm>
            <a:off x="3940916" y="152742"/>
            <a:ext cx="1089359" cy="21970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325" b="1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F2A30"/>
                </a:solidFill>
                <a:latin typeface="Arial"/>
                <a:ea typeface="Arial"/>
                <a:cs typeface="Arial"/>
              </a:rPr>
              <a:t>Reduction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C980A17A-24CF-42BF-AB04-BC27EF2FCE33}"/>
              </a:ext>
            </a:extLst>
          </p:cNvPr>
          <p:cNvSpPr>
            <a:spLocks noGrp="0"/>
          </p:cNvSpPr>
          <p:nvPr/>
        </p:nvSpPr>
        <p:spPr>
          <a:xfrm>
            <a:off x="3940916" y="1905786"/>
            <a:ext cx="1089359" cy="21970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Time / gas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9931A521-5DE8-4E3C-B604-BE3E33E203C1}"/>
              </a:ext>
            </a:extLst>
          </p:cNvPr>
          <p:cNvSpPr>
            <a:spLocks noGrp="0"/>
          </p:cNvSpPr>
          <p:nvPr/>
        </p:nvSpPr>
        <p:spPr>
          <a:xfrm>
            <a:off x="5423909" y="152742"/>
            <a:ext cx="984084" cy="21970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325" b="1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F2A30"/>
                </a:solidFill>
                <a:latin typeface="Arial"/>
                <a:ea typeface="Arial"/>
                <a:cs typeface="Arial"/>
              </a:rPr>
              <a:t>Dry output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1BFD136C-C997-4C58-8EF5-0AE529DED215}"/>
              </a:ext>
            </a:extLst>
          </p:cNvPr>
          <p:cNvSpPr>
            <a:spLocks noGrp="0"/>
          </p:cNvSpPr>
          <p:nvPr/>
        </p:nvSpPr>
        <p:spPr>
          <a:xfrm>
            <a:off x="5423909" y="1905786"/>
            <a:ext cx="984084" cy="21970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0">
                <a:solidFill>
                  <a:srgbClr val="1F2A30"/>
                </a:solidFill>
                <a:latin typeface="Arial"/>
                <a:ea typeface="Arial"/>
                <a:cs typeface="Arial"/>
              </a:defRPr>
            </a:pPr>
            <a:r>
              <a:rPr sz="1000" b="0">
                <a:solidFill>
                  <a:srgbClr val="1F2A30"/>
                </a:solidFill>
                <a:latin typeface="Arial"/>
                <a:ea typeface="Arial"/>
                <a:cs typeface="Arial"/>
              </a:rPr>
              <a:t>Mass</a:t>
            </a:r>
          </a:p>
        </p:txBody>
      </p:sp>
      <p:pic>
        <p:nvPicPr>
          <p:cNvPr id="14" name="panel-b-image" descr="fig3_manufacturing.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32000"/>
            <a:ext cx="3204000" cy="2880000"/>
          </a:xfrm>
          <a:prstGeom prst="rect">
            <a:avLst/>
          </a:prstGeom>
        </p:spPr>
      </p:pic>
      <p:pic>
        <p:nvPicPr>
          <p:cNvPr id="15" name="panel-c-image" descr="fig3_manufacturing.c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000" y="2232000"/>
            <a:ext cx="3204000" cy="2880000"/>
          </a:xfrm>
          <a:prstGeom prst="rect">
            <a:avLst/>
          </a:prstGeom>
        </p:spPr>
      </p:pic>
      <p:sp>
        <p:nvSpPr>
          <p:cNvPr id="16" name="panel-a"/>
          <p:cNvSpPr txBox="1"/>
          <p:nvPr/>
        </p:nvSpPr>
        <p:spPr>
          <a:xfrm>
            <a:off x="72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(a)</a:t>
            </a:r>
          </a:p>
        </p:txBody>
      </p:sp>
      <p:sp>
        <p:nvSpPr>
          <p:cNvPr id="17" name="panel-b"/>
          <p:cNvSpPr txBox="1"/>
          <p:nvPr/>
        </p:nvSpPr>
        <p:spPr>
          <a:xfrm>
            <a:off x="72000" y="2304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(b)</a:t>
            </a:r>
          </a:p>
        </p:txBody>
      </p:sp>
      <p:sp>
        <p:nvSpPr>
          <p:cNvPr id="18" name="panel-c"/>
          <p:cNvSpPr txBox="1"/>
          <p:nvPr/>
        </p:nvSpPr>
        <p:spPr>
          <a:xfrm>
            <a:off x="3276000" y="2304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lide-background"/>
          <p:cNvSpPr/>
          <p:nvPr/>
        </p:nvSpPr>
        <p:spPr>
          <a:xfrm>
            <a:off x="0" y="0"/>
            <a:ext cx="6408000" cy="5112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artwork" descr="imag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61200"/>
            <a:ext cx="6407994" cy="2135998"/>
          </a:xfrm>
          <a:prstGeom prst="rect">
            <a:avLst/>
          </a:prstGeom>
        </p:spPr>
      </p:pic>
      <p:sp>
        <p:nvSpPr>
          <p:cNvPr id="4" name="">
            <a:extLst>
              <a:ext uri="{FF2B5EF4-FFF2-40B4-BE49-F238E27FC236}">
                <a16:creationId xmlns:a16="http://schemas.microsoft.com/office/drawing/2014/main" id="{3BE63AF1-BB11-4A79-9976-657D4D8F381C}"/>
              </a:ext>
            </a:extLst>
          </p:cNvPr>
          <p:cNvSpPr>
            <a:spLocks noGrp="0"/>
          </p:cNvSpPr>
          <p:nvPr/>
        </p:nvSpPr>
        <p:spPr>
          <a:xfrm>
            <a:off x="96119" y="152742"/>
            <a:ext cx="1089359" cy="21970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325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함침</a:t>
            </a:r>
          </a:p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4E9BDA05-0513-4E31-A00D-EEE9E2F218A2}"/>
              </a:ext>
            </a:extLst>
          </p:cNvPr>
          <p:cNvSpPr>
            <a:spLocks noGrp="0"/>
          </p:cNvSpPr>
          <p:nvPr/>
        </p:nvSpPr>
        <p:spPr>
          <a:xfrm>
            <a:off x="96119" y="1905786"/>
            <a:ext cx="1089359" cy="21970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시간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BC5FF237-6FD5-4353-8987-82A45396792B}"/>
              </a:ext>
            </a:extLst>
          </p:cNvPr>
          <p:cNvSpPr>
            <a:spLocks noGrp="0"/>
          </p:cNvSpPr>
          <p:nvPr/>
        </p:nvSpPr>
        <p:spPr>
          <a:xfrm>
            <a:off x="1249558" y="152742"/>
            <a:ext cx="1089359" cy="21970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325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건조</a:t>
            </a:r>
          </a:p>
        </p:txBody>
      </p:sp>
      <p:sp>
        <p:nvSpPr>
          <p:cNvPr id="7" name="">
            <a:extLst>
              <a:ext uri="{FF2B5EF4-FFF2-40B4-BE49-F238E27FC236}">
                <a16:creationId xmlns:a16="http://schemas.microsoft.com/office/drawing/2014/main" id="{EBE55D5E-5439-4C39-B1F3-4FFE385CD1A4}"/>
              </a:ext>
            </a:extLst>
          </p:cNvPr>
          <p:cNvSpPr>
            <a:spLocks noGrp="0"/>
          </p:cNvSpPr>
          <p:nvPr/>
        </p:nvSpPr>
        <p:spPr>
          <a:xfrm>
            <a:off x="1249558" y="1905786"/>
            <a:ext cx="1089359" cy="21970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시간 / 에너지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412DE4B9-8C29-43F7-93ED-CE926D4A48A3}"/>
              </a:ext>
            </a:extLst>
          </p:cNvPr>
          <p:cNvSpPr>
            <a:spLocks noGrp="0"/>
          </p:cNvSpPr>
          <p:nvPr/>
        </p:nvSpPr>
        <p:spPr>
          <a:xfrm>
            <a:off x="2402997" y="152742"/>
            <a:ext cx="1089359" cy="21970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325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소성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65DA681A-7AE5-443D-A5FE-A943A177D356}"/>
              </a:ext>
            </a:extLst>
          </p:cNvPr>
          <p:cNvSpPr>
            <a:spLocks noGrp="0"/>
          </p:cNvSpPr>
          <p:nvPr/>
        </p:nvSpPr>
        <p:spPr>
          <a:xfrm>
            <a:off x="2402997" y="1905786"/>
            <a:ext cx="1089359" cy="21970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시간 / 에너지</a:t>
            </a:r>
          </a:p>
        </p:txBody>
      </p:sp>
      <p:sp>
        <p:nvSpPr>
          <p:cNvPr id="10" name="">
            <a:extLst>
              <a:ext uri="{FF2B5EF4-FFF2-40B4-BE49-F238E27FC236}">
                <a16:creationId xmlns:a16="http://schemas.microsoft.com/office/drawing/2014/main" id="{82272835-3B19-4053-9FE1-FC7776735F40}"/>
              </a:ext>
            </a:extLst>
          </p:cNvPr>
          <p:cNvSpPr>
            <a:spLocks noGrp="0"/>
          </p:cNvSpPr>
          <p:nvPr/>
        </p:nvSpPr>
        <p:spPr>
          <a:xfrm>
            <a:off x="3940916" y="152742"/>
            <a:ext cx="1089359" cy="21970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325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환원</a:t>
            </a:r>
          </a:p>
        </p:txBody>
      </p:sp>
      <p:sp>
        <p:nvSpPr>
          <p:cNvPr id="11" name="">
            <a:extLst>
              <a:ext uri="{FF2B5EF4-FFF2-40B4-BE49-F238E27FC236}">
                <a16:creationId xmlns:a16="http://schemas.microsoft.com/office/drawing/2014/main" id="{046B6317-DEF1-405C-8C71-F917D9FFD8BD}"/>
              </a:ext>
            </a:extLst>
          </p:cNvPr>
          <p:cNvSpPr>
            <a:spLocks noGrp="0"/>
          </p:cNvSpPr>
          <p:nvPr/>
        </p:nvSpPr>
        <p:spPr>
          <a:xfrm>
            <a:off x="3940916" y="1905786"/>
            <a:ext cx="1089359" cy="21970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시간 / 가스</a:t>
            </a:r>
          </a:p>
        </p:txBody>
      </p:sp>
      <p:sp>
        <p:nvSpPr>
          <p:cNvPr id="12" name="">
            <a:extLst>
              <a:ext uri="{FF2B5EF4-FFF2-40B4-BE49-F238E27FC236}">
                <a16:creationId xmlns:a16="http://schemas.microsoft.com/office/drawing/2014/main" id="{2FCE8BB8-A0B5-42F0-93A1-8604A39A1E6C}"/>
              </a:ext>
            </a:extLst>
          </p:cNvPr>
          <p:cNvSpPr>
            <a:spLocks noGrp="0"/>
          </p:cNvSpPr>
          <p:nvPr/>
        </p:nvSpPr>
        <p:spPr>
          <a:xfrm>
            <a:off x="5423909" y="152742"/>
            <a:ext cx="984084" cy="21970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325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1100" b="1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건조 수득량</a:t>
            </a:r>
          </a:p>
        </p:txBody>
      </p:sp>
      <p:sp>
        <p:nvSpPr>
          <p:cNvPr id="13" name="">
            <a:extLst>
              <a:ext uri="{FF2B5EF4-FFF2-40B4-BE49-F238E27FC236}">
                <a16:creationId xmlns:a16="http://schemas.microsoft.com/office/drawing/2014/main" id="{3082F122-3CBF-422F-A9F3-19D504ACFB16}"/>
              </a:ext>
            </a:extLst>
          </p:cNvPr>
          <p:cNvSpPr>
            <a:spLocks noGrp="0"/>
          </p:cNvSpPr>
          <p:nvPr/>
        </p:nvSpPr>
        <p:spPr>
          <a:xfrm>
            <a:off x="5423909" y="1905786"/>
            <a:ext cx="984084" cy="21970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 algn="ctr">
              <a:defRPr sz="210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defRPr>
            </a:pPr>
            <a:r>
              <a:rPr sz="1000" b="0">
                <a:solidFill>
                  <a:srgbClr val="1F2A30"/>
                </a:solidFill>
                <a:latin typeface="Malgun Gothic"/>
                <a:ea typeface="Malgun Gothic"/>
                <a:cs typeface="Malgun Gothic"/>
              </a:rPr>
              <a:t>질량</a:t>
            </a:r>
          </a:p>
        </p:txBody>
      </p:sp>
      <p:pic>
        <p:nvPicPr>
          <p:cNvPr id="14" name="panel-b-image" descr="fig3_manufacturing.b.k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232000"/>
            <a:ext cx="3204000" cy="2880000"/>
          </a:xfrm>
          <a:prstGeom prst="rect">
            <a:avLst/>
          </a:prstGeom>
        </p:spPr>
      </p:pic>
      <p:pic>
        <p:nvPicPr>
          <p:cNvPr id="15" name="panel-c-image" descr="fig3_manufacturing.c.k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4000" y="2232000"/>
            <a:ext cx="3204000" cy="2880000"/>
          </a:xfrm>
          <a:prstGeom prst="rect">
            <a:avLst/>
          </a:prstGeom>
        </p:spPr>
      </p:pic>
      <p:sp>
        <p:nvSpPr>
          <p:cNvPr id="16" name="panel-a"/>
          <p:cNvSpPr txBox="1"/>
          <p:nvPr/>
        </p:nvSpPr>
        <p:spPr>
          <a:xfrm>
            <a:off x="72000" y="18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(a)</a:t>
            </a:r>
          </a:p>
        </p:txBody>
      </p:sp>
      <p:sp>
        <p:nvSpPr>
          <p:cNvPr id="17" name="panel-b"/>
          <p:cNvSpPr txBox="1"/>
          <p:nvPr/>
        </p:nvSpPr>
        <p:spPr>
          <a:xfrm>
            <a:off x="72000" y="2304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(b)</a:t>
            </a:r>
          </a:p>
        </p:txBody>
      </p:sp>
      <p:sp>
        <p:nvSpPr>
          <p:cNvPr id="18" name="panel-c"/>
          <p:cNvSpPr txBox="1"/>
          <p:nvPr/>
        </p:nvSpPr>
        <p:spPr>
          <a:xfrm>
            <a:off x="3276000" y="2304000"/>
            <a:ext cx="252000" cy="18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F2A30"/>
                </a:solidFill>
                <a:latin typeface="Arial"/>
              </a:rPr>
              <a:t>(c)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