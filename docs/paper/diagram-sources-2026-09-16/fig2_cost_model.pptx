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408000" cy="763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76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artwork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72000"/>
            <a:ext cx="6408000" cy="2136000"/>
          </a:xfrm>
          <a:prstGeom prst="rect">
            <a:avLst/>
          </a:prstGeom>
        </p:spPr>
      </p:pic>
      <p:sp>
        <p:nvSpPr>
          <p:cNvPr id="4" name="input-formulation">
            <a:extLst>
              <a:ext uri="{FF2B5EF4-FFF2-40B4-BE49-F238E27FC236}">
                <a16:creationId xmlns:a16="http://schemas.microsoft.com/office/drawing/2014/main" id="{D2AB078F-1FBF-4622-877B-0A4DDFDA0BFA}"/>
              </a:ext>
            </a:extLst>
          </p:cNvPr>
          <p:cNvSpPr>
            <a:spLocks/>
          </p:cNvSpPr>
          <p:nvPr/>
        </p:nvSpPr>
        <p:spPr>
          <a:xfrm>
            <a:off x="216000" y="943200"/>
            <a:ext cx="205200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Formulation and prices</a:t>
            </a:r>
          </a:p>
        </p:txBody>
      </p:sp>
      <p:sp>
        <p:nvSpPr>
          <p:cNvPr id="5" name="input-route">
            <a:extLst>
              <a:ext uri="{FF2B5EF4-FFF2-40B4-BE49-F238E27FC236}">
                <a16:creationId xmlns:a16="http://schemas.microsoft.com/office/drawing/2014/main" id="{7A4F8D13-0591-4536-9D5A-E87E6E694546}"/>
              </a:ext>
            </a:extLst>
          </p:cNvPr>
          <p:cNvSpPr>
            <a:spLocks/>
          </p:cNvSpPr>
          <p:nvPr/>
        </p:nvSpPr>
        <p:spPr>
          <a:xfrm>
            <a:off x="144000" y="1915200"/>
            <a:ext cx="219600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Route and order size</a:t>
            </a:r>
          </a:p>
        </p:txBody>
      </p:sp>
      <p:sp>
        <p:nvSpPr>
          <p:cNvPr id="6" name="materials">
            <a:extLst>
              <a:ext uri="{FF2B5EF4-FFF2-40B4-BE49-F238E27FC236}">
                <a16:creationId xmlns:a16="http://schemas.microsoft.com/office/drawing/2014/main" id="{20025F45-A718-4A2B-9219-15CAEA76A90F}"/>
              </a:ext>
            </a:extLst>
          </p:cNvPr>
          <p:cNvSpPr>
            <a:spLocks/>
          </p:cNvSpPr>
          <p:nvPr/>
        </p:nvSpPr>
        <p:spPr>
          <a:xfrm>
            <a:off x="2595600" y="500400"/>
            <a:ext cx="774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5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Materials</a:t>
            </a:r>
          </a:p>
        </p:txBody>
      </p:sp>
      <p:sp>
        <p:nvSpPr>
          <p:cNvPr id="7" name="symbol-m">
            <a:extLst>
              <a:ext uri="{FF2B5EF4-FFF2-40B4-BE49-F238E27FC236}">
                <a16:creationId xmlns:a16="http://schemas.microsoft.com/office/drawing/2014/main" id="{14FEA54A-76F8-4F75-9CD6-A6AC295612E6}"/>
              </a:ext>
            </a:extLst>
          </p:cNvPr>
          <p:cNvSpPr>
            <a:spLocks/>
          </p:cNvSpPr>
          <p:nvPr/>
        </p:nvSpPr>
        <p:spPr>
          <a:xfrm>
            <a:off x="2710800" y="662400"/>
            <a:ext cx="540000" cy="19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</a:t>
            </a:r>
            <a:r>
              <a:rPr sz="1200" b="0" i="1" baseline="-25000">
                <a:solidFill>
                  <a:srgbClr val="1F2A3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" name="processing">
            <a:extLst>
              <a:ext uri="{FF2B5EF4-FFF2-40B4-BE49-F238E27FC236}">
                <a16:creationId xmlns:a16="http://schemas.microsoft.com/office/drawing/2014/main" id="{639FCE07-7475-46C8-A4AB-7599764CE438}"/>
              </a:ext>
            </a:extLst>
          </p:cNvPr>
          <p:cNvSpPr>
            <a:spLocks/>
          </p:cNvSpPr>
          <p:nvPr/>
        </p:nvSpPr>
        <p:spPr>
          <a:xfrm>
            <a:off x="2584800" y="1422000"/>
            <a:ext cx="792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5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9" name="symbol-p">
            <a:extLst>
              <a:ext uri="{FF2B5EF4-FFF2-40B4-BE49-F238E27FC236}">
                <a16:creationId xmlns:a16="http://schemas.microsoft.com/office/drawing/2014/main" id="{9ACF6DBA-8F4A-489C-A06A-A4EBFA2EBBBF}"/>
              </a:ext>
            </a:extLst>
          </p:cNvPr>
          <p:cNvSpPr>
            <a:spLocks/>
          </p:cNvSpPr>
          <p:nvPr/>
        </p:nvSpPr>
        <p:spPr>
          <a:xfrm>
            <a:off x="2710800" y="1584000"/>
            <a:ext cx="540000" cy="19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</a:t>
            </a:r>
            <a:r>
              <a:rPr sz="1200" b="0" i="1" baseline="-25000">
                <a:solidFill>
                  <a:srgbClr val="1F2A3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0" name="sum">
            <a:extLst>
              <a:ext uri="{FF2B5EF4-FFF2-40B4-BE49-F238E27FC236}">
                <a16:creationId xmlns:a16="http://schemas.microsoft.com/office/drawing/2014/main" id="{3EC3EDD8-7330-4B9A-8950-028F4431DAC9}"/>
              </a:ext>
            </a:extLst>
          </p:cNvPr>
          <p:cNvSpPr>
            <a:spLocks/>
          </p:cNvSpPr>
          <p:nvPr/>
        </p:nvSpPr>
        <p:spPr>
          <a:xfrm>
            <a:off x="3621600" y="1036800"/>
            <a:ext cx="234000" cy="21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" name="overheads-1">
            <a:extLst>
              <a:ext uri="{FF2B5EF4-FFF2-40B4-BE49-F238E27FC236}">
                <a16:creationId xmlns:a16="http://schemas.microsoft.com/office/drawing/2014/main" id="{646B4882-0F32-4783-A41C-0F21733536DD}"/>
              </a:ext>
            </a:extLst>
          </p:cNvPr>
          <p:cNvSpPr>
            <a:spLocks/>
          </p:cNvSpPr>
          <p:nvPr/>
        </p:nvSpPr>
        <p:spPr>
          <a:xfrm>
            <a:off x="4176000" y="979200"/>
            <a:ext cx="738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Overheads</a:t>
            </a:r>
          </a:p>
        </p:txBody>
      </p:sp>
      <p:sp>
        <p:nvSpPr>
          <p:cNvPr id="12" name="overheads-2">
            <a:extLst>
              <a:ext uri="{FF2B5EF4-FFF2-40B4-BE49-F238E27FC236}">
                <a16:creationId xmlns:a16="http://schemas.microsoft.com/office/drawing/2014/main" id="{C24B07B6-FB49-42DA-B751-3ACDD5E1D299}"/>
              </a:ext>
            </a:extLst>
          </p:cNvPr>
          <p:cNvSpPr>
            <a:spLocks/>
          </p:cNvSpPr>
          <p:nvPr/>
        </p:nvSpPr>
        <p:spPr>
          <a:xfrm>
            <a:off x="4140000" y="1134000"/>
            <a:ext cx="810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and margin</a:t>
            </a:r>
          </a:p>
        </p:txBody>
      </p:sp>
      <p:sp>
        <p:nvSpPr>
          <p:cNvPr id="13" name="selling-price-1">
            <a:extLst>
              <a:ext uri="{FF2B5EF4-FFF2-40B4-BE49-F238E27FC236}">
                <a16:creationId xmlns:a16="http://schemas.microsoft.com/office/drawing/2014/main" id="{495CE733-831E-4E1A-B816-9E5C0C0973D6}"/>
              </a:ext>
            </a:extLst>
          </p:cNvPr>
          <p:cNvSpPr>
            <a:spLocks/>
          </p:cNvSpPr>
          <p:nvPr/>
        </p:nvSpPr>
        <p:spPr>
          <a:xfrm>
            <a:off x="5223600" y="910800"/>
            <a:ext cx="612000" cy="15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Selling</a:t>
            </a:r>
          </a:p>
        </p:txBody>
      </p:sp>
      <p:sp>
        <p:nvSpPr>
          <p:cNvPr id="14" name="selling-price-2">
            <a:extLst>
              <a:ext uri="{FF2B5EF4-FFF2-40B4-BE49-F238E27FC236}">
                <a16:creationId xmlns:a16="http://schemas.microsoft.com/office/drawing/2014/main" id="{B906FB1F-326E-410F-A2D0-B9C9AE3B68D9}"/>
              </a:ext>
            </a:extLst>
          </p:cNvPr>
          <p:cNvSpPr>
            <a:spLocks/>
          </p:cNvSpPr>
          <p:nvPr/>
        </p:nvSpPr>
        <p:spPr>
          <a:xfrm>
            <a:off x="5223600" y="1047600"/>
            <a:ext cx="612000" cy="15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95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15" name="symbol-price">
            <a:extLst>
              <a:ext uri="{FF2B5EF4-FFF2-40B4-BE49-F238E27FC236}">
                <a16:creationId xmlns:a16="http://schemas.microsoft.com/office/drawing/2014/main" id="{1212C0A1-C9E4-42E6-BCAB-31BCA477A778}"/>
              </a:ext>
            </a:extLst>
          </p:cNvPr>
          <p:cNvSpPr>
            <a:spLocks/>
          </p:cNvSpPr>
          <p:nvPr/>
        </p:nvSpPr>
        <p:spPr>
          <a:xfrm>
            <a:off x="5374800" y="1195200"/>
            <a:ext cx="306000" cy="19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pic>
        <p:nvPicPr>
          <p:cNvPr id="16" name="panel-b-image" descr="fig2_cost_model.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04000"/>
            <a:ext cx="6408000" cy="3672000"/>
          </a:xfrm>
          <a:prstGeom prst="rect">
            <a:avLst/>
          </a:prstGeom>
        </p:spPr>
      </p:pic>
      <p:pic>
        <p:nvPicPr>
          <p:cNvPr id="17" name="panel-c-image" descr="fig2_cost_model.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76000"/>
            <a:ext cx="6408000" cy="1656000"/>
          </a:xfrm>
          <a:prstGeom prst="rect">
            <a:avLst/>
          </a:prstGeom>
        </p:spPr>
      </p:pic>
      <p:sp>
        <p:nvSpPr>
          <p:cNvPr id="18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19" name="panel-b"/>
          <p:cNvSpPr txBox="1"/>
          <p:nvPr/>
        </p:nvSpPr>
        <p:spPr>
          <a:xfrm>
            <a:off x="72000" y="2322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sp>
        <p:nvSpPr>
          <p:cNvPr id="20" name="panel-c"/>
          <p:cNvSpPr txBox="1"/>
          <p:nvPr/>
        </p:nvSpPr>
        <p:spPr>
          <a:xfrm>
            <a:off x="72000" y="5994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76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artwork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72000"/>
            <a:ext cx="6408000" cy="2136000"/>
          </a:xfrm>
          <a:prstGeom prst="rect">
            <a:avLst/>
          </a:prstGeom>
        </p:spPr>
      </p:pic>
      <p:sp>
        <p:nvSpPr>
          <p:cNvPr id="4" name="input-formulation">
            <a:extLst>
              <a:ext uri="{FF2B5EF4-FFF2-40B4-BE49-F238E27FC236}">
                <a16:creationId xmlns:a16="http://schemas.microsoft.com/office/drawing/2014/main" id="{03C698A0-B409-416C-AEC2-071D41A3A574}"/>
              </a:ext>
            </a:extLst>
          </p:cNvPr>
          <p:cNvSpPr>
            <a:spLocks/>
          </p:cNvSpPr>
          <p:nvPr/>
        </p:nvSpPr>
        <p:spPr>
          <a:xfrm>
            <a:off x="216000" y="943200"/>
            <a:ext cx="205200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조성 및 가격</a:t>
            </a:r>
          </a:p>
        </p:txBody>
      </p:sp>
      <p:sp>
        <p:nvSpPr>
          <p:cNvPr id="5" name="input-route">
            <a:extLst>
              <a:ext uri="{FF2B5EF4-FFF2-40B4-BE49-F238E27FC236}">
                <a16:creationId xmlns:a16="http://schemas.microsoft.com/office/drawing/2014/main" id="{DE7B1AA9-7BD3-4CE7-9733-B02AE7E351BB}"/>
              </a:ext>
            </a:extLst>
          </p:cNvPr>
          <p:cNvSpPr>
            <a:spLocks/>
          </p:cNvSpPr>
          <p:nvPr/>
        </p:nvSpPr>
        <p:spPr>
          <a:xfrm>
            <a:off x="144000" y="1915200"/>
            <a:ext cx="219600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제조 경로 및 주문량</a:t>
            </a:r>
          </a:p>
        </p:txBody>
      </p:sp>
      <p:sp>
        <p:nvSpPr>
          <p:cNvPr id="6" name="materials">
            <a:extLst>
              <a:ext uri="{FF2B5EF4-FFF2-40B4-BE49-F238E27FC236}">
                <a16:creationId xmlns:a16="http://schemas.microsoft.com/office/drawing/2014/main" id="{2F1BDC17-EF1A-43DD-B71E-D169E995FFC2}"/>
              </a:ext>
            </a:extLst>
          </p:cNvPr>
          <p:cNvSpPr>
            <a:spLocks/>
          </p:cNvSpPr>
          <p:nvPr/>
        </p:nvSpPr>
        <p:spPr>
          <a:xfrm>
            <a:off x="2595600" y="500400"/>
            <a:ext cx="774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재료비</a:t>
            </a:r>
          </a:p>
        </p:txBody>
      </p:sp>
      <p:sp>
        <p:nvSpPr>
          <p:cNvPr id="7" name="symbol-m">
            <a:extLst>
              <a:ext uri="{FF2B5EF4-FFF2-40B4-BE49-F238E27FC236}">
                <a16:creationId xmlns:a16="http://schemas.microsoft.com/office/drawing/2014/main" id="{BBA731D0-4FDC-4C59-BD9C-C1D0FB817043}"/>
              </a:ext>
            </a:extLst>
          </p:cNvPr>
          <p:cNvSpPr>
            <a:spLocks/>
          </p:cNvSpPr>
          <p:nvPr/>
        </p:nvSpPr>
        <p:spPr>
          <a:xfrm>
            <a:off x="2710800" y="662400"/>
            <a:ext cx="540000" cy="19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</a:t>
            </a:r>
            <a:r>
              <a:rPr sz="1200" b="0" i="1" baseline="-25000">
                <a:solidFill>
                  <a:srgbClr val="1F2A30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" name="processing">
            <a:extLst>
              <a:ext uri="{FF2B5EF4-FFF2-40B4-BE49-F238E27FC236}">
                <a16:creationId xmlns:a16="http://schemas.microsoft.com/office/drawing/2014/main" id="{274CD354-6CB2-46F3-B617-75AF2FF935BB}"/>
              </a:ext>
            </a:extLst>
          </p:cNvPr>
          <p:cNvSpPr>
            <a:spLocks/>
          </p:cNvSpPr>
          <p:nvPr/>
        </p:nvSpPr>
        <p:spPr>
          <a:xfrm>
            <a:off x="2584800" y="1422000"/>
            <a:ext cx="792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8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가공비</a:t>
            </a:r>
          </a:p>
        </p:txBody>
      </p:sp>
      <p:sp>
        <p:nvSpPr>
          <p:cNvPr id="9" name="symbol-p">
            <a:extLst>
              <a:ext uri="{FF2B5EF4-FFF2-40B4-BE49-F238E27FC236}">
                <a16:creationId xmlns:a16="http://schemas.microsoft.com/office/drawing/2014/main" id="{F7D9AF37-FF3B-4884-9845-F512FE8F83C9}"/>
              </a:ext>
            </a:extLst>
          </p:cNvPr>
          <p:cNvSpPr>
            <a:spLocks/>
          </p:cNvSpPr>
          <p:nvPr/>
        </p:nvSpPr>
        <p:spPr>
          <a:xfrm>
            <a:off x="2710800" y="1584000"/>
            <a:ext cx="540000" cy="19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</a:t>
            </a:r>
            <a:r>
              <a:rPr sz="1200" b="0" i="1" baseline="-25000">
                <a:solidFill>
                  <a:srgbClr val="1F2A3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0" name="sum">
            <a:extLst>
              <a:ext uri="{FF2B5EF4-FFF2-40B4-BE49-F238E27FC236}">
                <a16:creationId xmlns:a16="http://schemas.microsoft.com/office/drawing/2014/main" id="{DB28D98A-5654-4C85-8116-4B1D9F986F3C}"/>
              </a:ext>
            </a:extLst>
          </p:cNvPr>
          <p:cNvSpPr>
            <a:spLocks/>
          </p:cNvSpPr>
          <p:nvPr/>
        </p:nvSpPr>
        <p:spPr>
          <a:xfrm>
            <a:off x="3621600" y="1036800"/>
            <a:ext cx="234000" cy="216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" name="overheads-1">
            <a:extLst>
              <a:ext uri="{FF2B5EF4-FFF2-40B4-BE49-F238E27FC236}">
                <a16:creationId xmlns:a16="http://schemas.microsoft.com/office/drawing/2014/main" id="{AA9A2723-ABE5-4082-80B6-048D8005FDCE}"/>
              </a:ext>
            </a:extLst>
          </p:cNvPr>
          <p:cNvSpPr>
            <a:spLocks/>
          </p:cNvSpPr>
          <p:nvPr/>
        </p:nvSpPr>
        <p:spPr>
          <a:xfrm>
            <a:off x="4176000" y="979200"/>
            <a:ext cx="738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간접비 및</a:t>
            </a:r>
          </a:p>
        </p:txBody>
      </p:sp>
      <p:sp>
        <p:nvSpPr>
          <p:cNvPr id="12" name="overheads-2">
            <a:extLst>
              <a:ext uri="{FF2B5EF4-FFF2-40B4-BE49-F238E27FC236}">
                <a16:creationId xmlns:a16="http://schemas.microsoft.com/office/drawing/2014/main" id="{0311E432-F570-41F6-AB77-7313954921D7}"/>
              </a:ext>
            </a:extLst>
          </p:cNvPr>
          <p:cNvSpPr>
            <a:spLocks/>
          </p:cNvSpPr>
          <p:nvPr/>
        </p:nvSpPr>
        <p:spPr>
          <a:xfrm>
            <a:off x="4140000" y="1134000"/>
            <a:ext cx="810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마진</a:t>
            </a:r>
          </a:p>
        </p:txBody>
      </p:sp>
      <p:sp>
        <p:nvSpPr>
          <p:cNvPr id="13" name="selling-price-1">
            <a:extLst>
              <a:ext uri="{FF2B5EF4-FFF2-40B4-BE49-F238E27FC236}">
                <a16:creationId xmlns:a16="http://schemas.microsoft.com/office/drawing/2014/main" id="{63E530D8-02EC-403B-9DA1-64F6E1FA2073}"/>
              </a:ext>
            </a:extLst>
          </p:cNvPr>
          <p:cNvSpPr>
            <a:spLocks/>
          </p:cNvSpPr>
          <p:nvPr/>
        </p:nvSpPr>
        <p:spPr>
          <a:xfrm>
            <a:off x="5223600" y="910800"/>
            <a:ext cx="612000" cy="15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판매</a:t>
            </a:r>
          </a:p>
        </p:txBody>
      </p:sp>
      <p:sp>
        <p:nvSpPr>
          <p:cNvPr id="14" name="selling-price-2">
            <a:extLst>
              <a:ext uri="{FF2B5EF4-FFF2-40B4-BE49-F238E27FC236}">
                <a16:creationId xmlns:a16="http://schemas.microsoft.com/office/drawing/2014/main" id="{C9DEFEF9-DB07-4103-9C22-83E15CE854B9}"/>
              </a:ext>
            </a:extLst>
          </p:cNvPr>
          <p:cNvSpPr>
            <a:spLocks/>
          </p:cNvSpPr>
          <p:nvPr/>
        </p:nvSpPr>
        <p:spPr>
          <a:xfrm>
            <a:off x="5223600" y="1047600"/>
            <a:ext cx="612000" cy="15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95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단가</a:t>
            </a:r>
          </a:p>
        </p:txBody>
      </p:sp>
      <p:sp>
        <p:nvSpPr>
          <p:cNvPr id="15" name="symbol-price">
            <a:extLst>
              <a:ext uri="{FF2B5EF4-FFF2-40B4-BE49-F238E27FC236}">
                <a16:creationId xmlns:a16="http://schemas.microsoft.com/office/drawing/2014/main" id="{FE050D13-B4BB-4DFF-8032-87EC03CCF8FA}"/>
              </a:ext>
            </a:extLst>
          </p:cNvPr>
          <p:cNvSpPr>
            <a:spLocks/>
          </p:cNvSpPr>
          <p:nvPr/>
        </p:nvSpPr>
        <p:spPr>
          <a:xfrm>
            <a:off x="5374800" y="1195200"/>
            <a:ext cx="306000" cy="198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1F2A30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pic>
        <p:nvPicPr>
          <p:cNvPr id="16" name="panel-b-image" descr="fig2_cost_model.b.k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04000"/>
            <a:ext cx="6408000" cy="3672000"/>
          </a:xfrm>
          <a:prstGeom prst="rect">
            <a:avLst/>
          </a:prstGeom>
        </p:spPr>
      </p:pic>
      <p:pic>
        <p:nvPicPr>
          <p:cNvPr id="17" name="panel-c-image" descr="fig2_cost_model.c.k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976000"/>
            <a:ext cx="6408000" cy="1656000"/>
          </a:xfrm>
          <a:prstGeom prst="rect">
            <a:avLst/>
          </a:prstGeom>
        </p:spPr>
      </p:pic>
      <p:sp>
        <p:nvSpPr>
          <p:cNvPr id="18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19" name="panel-b"/>
          <p:cNvSpPr txBox="1"/>
          <p:nvPr/>
        </p:nvSpPr>
        <p:spPr>
          <a:xfrm>
            <a:off x="72000" y="2322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sp>
        <p:nvSpPr>
          <p:cNvPr id="20" name="panel-c"/>
          <p:cNvSpPr txBox="1"/>
          <p:nvPr/>
        </p:nvSpPr>
        <p:spPr>
          <a:xfrm>
            <a:off x="72000" y="5994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