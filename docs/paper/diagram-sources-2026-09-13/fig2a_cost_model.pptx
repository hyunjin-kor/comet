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b0338ba1134e49" /><Relationship Type="http://schemas.openxmlformats.org/officeDocument/2006/relationships/extended-properties" Target="/docProps/app.xml" Id="R5ab47f88c98c4c51" /><Relationship Type="http://schemas.openxmlformats.org/officeDocument/2006/relationships/officeDocument" Target="/ppt/presentation.xml" Id="R36b4a536dbe048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4cf36e9eff40ec"/>
  </p:sldMasterIdLst>
  <p:notesMasterIdLst>
    <p:notesMasterId xmlns:r="http://schemas.openxmlformats.org/officeDocument/2006/relationships" r:id="Ra4751c99dac847d9"/>
  </p:notesMasterIdLst>
  <p:sldIdLst>
    <p:sldId xmlns:r="http://schemas.openxmlformats.org/officeDocument/2006/relationships" id="256" r:id="R430d69cadf024b5a"/>
    <p:sldId xmlns:r="http://schemas.openxmlformats.org/officeDocument/2006/relationships" id="257" r:id="R19bdad87fa534084"/>
  </p:sldIdLst>
  <p:sldSz cx="6408000" cy="129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f2faf90008496b" /><Relationship Type="http://schemas.openxmlformats.org/officeDocument/2006/relationships/slideMaster" Target="/ppt/slideMasters/slideMaster1.xml" Id="R044cf36e9eff40ec" /><Relationship Type="http://schemas.openxmlformats.org/officeDocument/2006/relationships/notesMaster" Target="/ppt/notesMasters/notesMaster1.xml" Id="Ra4751c99dac847d9" /><Relationship Type="http://schemas.openxmlformats.org/officeDocument/2006/relationships/presProps" Target="/ppt/presProps.xml" Id="R8e8a2926e865460e" /><Relationship Type="http://schemas.openxmlformats.org/officeDocument/2006/relationships/tableStyles" Target="/ppt/tableStyles.xml" Id="R5a4397bc5c604772" /><Relationship Type="http://schemas.openxmlformats.org/officeDocument/2006/relationships/slide" Target="/ppt/slides/slide1.xml" Id="R430d69cadf024b5a" /><Relationship Type="http://schemas.openxmlformats.org/officeDocument/2006/relationships/slide" Target="/ppt/slides/slide2.xml" Id="R19bdad87fa5340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24e2f0df6644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3714d32cda42e0" /><Relationship Type="http://schemas.openxmlformats.org/officeDocument/2006/relationships/notesMaster" Target="/ppt/notesMasters/notesMaster1.xml" Id="Raff54ae072a140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b44d0618894544" /><Relationship Type="http://schemas.openxmlformats.org/officeDocument/2006/relationships/notesMaster" Target="/ppt/notesMasters/notesMaster1.xml" Id="R9da25826a8cf45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COMET Figure 2(a). Materials and Step Method processing costs are summed before sequential overheads and the selling-price margin are applied. Order size affects processing and margin. Equations, input definitions and attribution to Baddour et al. and Van Allsburg et al. appear in the manuscript and caption.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COMET Figure 2(a). Materials and Step Method processing costs are summed before sequential overheads and the selling-price margin are applied. Order size affects processing and margin. Equations, input definitions and attribution to Baddour et al. and Van Allsburg et al. appear in the manuscript and caption.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c7dd520154e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f0c57ee4cb46e0" /><Relationship Type="http://schemas.openxmlformats.org/officeDocument/2006/relationships/slideLayout" Target="/ppt/slideLayouts/slideLayout1.xml" Id="Ree4db085445647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db085445647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78f3dbd2f4501" /><Relationship Type="http://schemas.openxmlformats.org/officeDocument/2006/relationships/notesSlide" Target="/ppt/notesSlides/notesSlide1.xml" Id="R2f6d44dc30e648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efe7c3eaa4ec9" /><Relationship Type="http://schemas.openxmlformats.org/officeDocument/2006/relationships/notesSlide" Target="/ppt/notesSlides/notesSlide2.xml" Id="Rde11225b99c744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5B8739C-2942-408B-8CF0-99612FB3051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64080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input-0">
            <a:extLst xmlns:a="http://schemas.openxmlformats.org/drawingml/2006/main">
              <a:ext uri="{FF2B5EF4-FFF2-40B4-BE49-F238E27FC236}">
                <a16:creationId xmlns:a16="http://schemas.microsoft.com/office/drawing/2014/main" id="{56D29993-D0AE-4493-876A-95D2B907FB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000" y="90000"/>
            <a:ext cx="169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2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Formulation and prices</a:t>
            </a:r>
          </a:p>
        </p:txBody>
      </p:sp>
      <p:sp>
        <p:nvSpPr>
          <p:cNvPr id="3" name="line-24">
            <a:extLst xmlns:a="http://schemas.openxmlformats.org/drawingml/2006/main">
              <a:ext uri="{FF2B5EF4-FFF2-40B4-BE49-F238E27FC236}">
                <a16:creationId xmlns:a16="http://schemas.microsoft.com/office/drawing/2014/main" id="{D1B30D93-DD39-459A-8054-CED16E2125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764000" y="252000"/>
            <a:ext cx="3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  <a:tailEnd type="triangle" w="sm" len="sm"/>
          </a:ln>
        </p:spPr>
      </p:sp>
      <p:sp>
        <p:nvSpPr>
          <p:cNvPr id="4" name="cost-accent-0">
            <a:extLst xmlns:a="http://schemas.openxmlformats.org/drawingml/2006/main">
              <a:ext uri="{FF2B5EF4-FFF2-40B4-BE49-F238E27FC236}">
                <a16:creationId xmlns:a16="http://schemas.microsoft.com/office/drawing/2014/main" id="{2B64D091-81B5-4295-9395-03C72E123B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32000" y="36000"/>
            <a:ext cx="4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78"/>
          </a:solidFill>
          <a:ln xmlns:a="http://schemas.openxmlformats.org/drawingml/2006/main" w="0">
            <a:noFill/>
          </a:ln>
        </p:spPr>
      </p:sp>
      <p:sp>
        <p:nvSpPr>
          <p:cNvPr id="5" name="cost-label-0">
            <a:extLst xmlns:a="http://schemas.openxmlformats.org/drawingml/2006/main">
              <a:ext uri="{FF2B5EF4-FFF2-40B4-BE49-F238E27FC236}">
                <a16:creationId xmlns:a16="http://schemas.microsoft.com/office/drawing/2014/main" id="{1A35B30E-CE52-4F05-B136-BE9432D2FD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76000" y="36000"/>
            <a:ext cx="111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sp>
        <p:nvSpPr>
          <p:cNvPr id="6" name="cost-symbol-0">
            <a:extLst xmlns:a="http://schemas.openxmlformats.org/drawingml/2006/main">
              <a:ext uri="{FF2B5EF4-FFF2-40B4-BE49-F238E27FC236}">
                <a16:creationId xmlns:a16="http://schemas.microsoft.com/office/drawing/2014/main" id="{583B8041-FA49-4356-9CB9-6C8FEEC5614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76000" y="241200"/>
            <a:ext cx="6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</a:t>
            </a:r>
            <a:r>
              <a:rPr sz="1200" b="0" i="0" baseline="-25000">
                <a:solidFill>
                  <a:srgbClr val="1F2A3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" name="line-25">
            <a:extLst xmlns:a="http://schemas.openxmlformats.org/drawingml/2006/main">
              <a:ext uri="{FF2B5EF4-FFF2-40B4-BE49-F238E27FC236}">
                <a16:creationId xmlns:a16="http://schemas.microsoft.com/office/drawing/2014/main" id="{C4DBE397-D385-4467-806B-CE015555ED4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420000" y="252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</a:ln>
        </p:spPr>
      </p:sp>
      <p:sp>
        <p:nvSpPr>
          <p:cNvPr id="8" name="line-26">
            <a:extLst xmlns:a="http://schemas.openxmlformats.org/drawingml/2006/main">
              <a:ext uri="{FF2B5EF4-FFF2-40B4-BE49-F238E27FC236}">
                <a16:creationId xmlns:a16="http://schemas.microsoft.com/office/drawing/2014/main" id="{0CBBD4B6-BAA3-42F0-A277-48E73AE1C4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636000" y="252000"/>
            <a:ext cx="0" cy="34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</a:ln>
        </p:spPr>
      </p:sp>
      <p:sp>
        <p:nvSpPr>
          <p:cNvPr id="9" name="input-1">
            <a:extLst xmlns:a="http://schemas.openxmlformats.org/drawingml/2006/main">
              <a:ext uri="{FF2B5EF4-FFF2-40B4-BE49-F238E27FC236}">
                <a16:creationId xmlns:a16="http://schemas.microsoft.com/office/drawing/2014/main" id="{18F3FBE2-8443-4418-A36C-47FE8BFF41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000" y="774000"/>
            <a:ext cx="169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2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Route and order size</a:t>
            </a:r>
          </a:p>
        </p:txBody>
      </p:sp>
      <p:sp>
        <p:nvSpPr>
          <p:cNvPr id="10" name="line-27">
            <a:extLst xmlns:a="http://schemas.openxmlformats.org/drawingml/2006/main">
              <a:ext uri="{FF2B5EF4-FFF2-40B4-BE49-F238E27FC236}">
                <a16:creationId xmlns:a16="http://schemas.microsoft.com/office/drawing/2014/main" id="{3759086D-F8D7-4304-8C4A-92FF5C0F4F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764000" y="936000"/>
            <a:ext cx="3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  <a:tailEnd type="triangle" w="sm" len="sm"/>
          </a:ln>
        </p:spPr>
      </p:sp>
      <p:sp>
        <p:nvSpPr>
          <p:cNvPr id="11" name="cost-accent-1">
            <a:extLst xmlns:a="http://schemas.openxmlformats.org/drawingml/2006/main">
              <a:ext uri="{FF2B5EF4-FFF2-40B4-BE49-F238E27FC236}">
                <a16:creationId xmlns:a16="http://schemas.microsoft.com/office/drawing/2014/main" id="{FA78C4A6-8F6E-473A-A42A-8EC52C75F9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32000" y="720000"/>
            <a:ext cx="4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AE"/>
          </a:solidFill>
          <a:ln xmlns:a="http://schemas.openxmlformats.org/drawingml/2006/main" w="0">
            <a:noFill/>
          </a:ln>
        </p:spPr>
      </p:sp>
      <p:sp>
        <p:nvSpPr>
          <p:cNvPr id="12" name="cost-label-1">
            <a:extLst xmlns:a="http://schemas.openxmlformats.org/drawingml/2006/main">
              <a:ext uri="{FF2B5EF4-FFF2-40B4-BE49-F238E27FC236}">
                <a16:creationId xmlns:a16="http://schemas.microsoft.com/office/drawing/2014/main" id="{4A282EB4-674A-4235-A2E7-6D110CC7D3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76000" y="720000"/>
            <a:ext cx="111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13" name="cost-symbol-1">
            <a:extLst xmlns:a="http://schemas.openxmlformats.org/drawingml/2006/main">
              <a:ext uri="{FF2B5EF4-FFF2-40B4-BE49-F238E27FC236}">
                <a16:creationId xmlns:a16="http://schemas.microsoft.com/office/drawing/2014/main" id="{063D632C-8412-426A-B353-73734E3BDC8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76000" y="925200"/>
            <a:ext cx="6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</a:t>
            </a:r>
            <a:r>
              <a:rPr sz="1200" b="0" i="0" baseline="-25000">
                <a:solidFill>
                  <a:srgbClr val="1F2A3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4" name="line-28">
            <a:extLst xmlns:a="http://schemas.openxmlformats.org/drawingml/2006/main">
              <a:ext uri="{FF2B5EF4-FFF2-40B4-BE49-F238E27FC236}">
                <a16:creationId xmlns:a16="http://schemas.microsoft.com/office/drawing/2014/main" id="{3727E403-3A86-4385-A3A9-55004B9C1B5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420000" y="936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</a:ln>
        </p:spPr>
      </p:sp>
      <p:sp>
        <p:nvSpPr>
          <p:cNvPr id="15" name="line-29">
            <a:extLst xmlns:a="http://schemas.openxmlformats.org/drawingml/2006/main">
              <a:ext uri="{FF2B5EF4-FFF2-40B4-BE49-F238E27FC236}">
                <a16:creationId xmlns:a16="http://schemas.microsoft.com/office/drawing/2014/main" id="{9BB9D00B-35B5-4016-A3FB-894FA77657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1">
            <a:off x="3636000" y="594000"/>
            <a:ext cx="0" cy="34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</a:ln>
        </p:spPr>
      </p:sp>
      <p:sp>
        <p:nvSpPr>
          <p:cNvPr id="16" name="line-30">
            <a:extLst xmlns:a="http://schemas.openxmlformats.org/drawingml/2006/main">
              <a:ext uri="{FF2B5EF4-FFF2-40B4-BE49-F238E27FC236}">
                <a16:creationId xmlns:a16="http://schemas.microsoft.com/office/drawing/2014/main" id="{56F14335-D6F0-4F96-BE60-B577B3EB08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636000" y="594000"/>
            <a:ext cx="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</a:ln>
        </p:spPr>
      </p:sp>
      <p:sp>
        <p:nvSpPr>
          <p:cNvPr id="17" name="cost-sum">
            <a:extLst xmlns:a="http://schemas.openxmlformats.org/drawingml/2006/main">
              <a:ext uri="{FF2B5EF4-FFF2-40B4-BE49-F238E27FC236}">
                <a16:creationId xmlns:a16="http://schemas.microsoft.com/office/drawing/2014/main" id="{B264C4B1-996A-450A-B7DC-A67CA713969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80000" y="468000"/>
            <a:ext cx="252000" cy="25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F2A30"/>
            </a:solidFill>
          </a:ln>
        </p:spPr>
      </p:sp>
      <p:sp>
        <p:nvSpPr>
          <p:cNvPr id="18" name="plus">
            <a:extLst xmlns:a="http://schemas.openxmlformats.org/drawingml/2006/main">
              <a:ext uri="{FF2B5EF4-FFF2-40B4-BE49-F238E27FC236}">
                <a16:creationId xmlns:a16="http://schemas.microsoft.com/office/drawing/2014/main" id="{8EC206C9-8EE5-47B9-BD12-3163407797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80000" y="450000"/>
            <a:ext cx="25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line-31">
            <a:extLst xmlns:a="http://schemas.openxmlformats.org/drawingml/2006/main">
              <a:ext uri="{FF2B5EF4-FFF2-40B4-BE49-F238E27FC236}">
                <a16:creationId xmlns:a16="http://schemas.microsoft.com/office/drawing/2014/main" id="{3CA48606-D820-4A5C-8F85-F8B7DC74F42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4032000" y="594000"/>
            <a:ext cx="10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  <a:tailEnd type="triangle" w="sm" len="sm"/>
          </a:ln>
        </p:spPr>
      </p:sp>
      <p:sp>
        <p:nvSpPr>
          <p:cNvPr id="20" name="overheads">
            <a:extLst xmlns:a="http://schemas.openxmlformats.org/drawingml/2006/main">
              <a:ext uri="{FF2B5EF4-FFF2-40B4-BE49-F238E27FC236}">
                <a16:creationId xmlns:a16="http://schemas.microsoft.com/office/drawing/2014/main" id="{7548CCAA-16BC-4593-B20A-7721FABD060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96000" y="144000"/>
            <a:ext cx="111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76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Overheads and margin</a:t>
            </a:r>
          </a:p>
        </p:txBody>
      </p:sp>
      <p:sp>
        <p:nvSpPr>
          <p:cNvPr id="21" name="selling-label">
            <a:extLst xmlns:a="http://schemas.openxmlformats.org/drawingml/2006/main">
              <a:ext uri="{FF2B5EF4-FFF2-40B4-BE49-F238E27FC236}">
                <a16:creationId xmlns:a16="http://schemas.microsoft.com/office/drawing/2014/main" id="{5CEA1B10-65EB-4895-947C-DF27CE8EE8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84000" y="216000"/>
            <a:ext cx="1116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B6F78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1B6F78"/>
                </a:solidFill>
                <a:latin typeface="Arial"/>
                <a:ea typeface="Arial"/>
                <a:cs typeface="Arial"/>
              </a:rPr>
              <a:t>Selling price</a:t>
            </a:r>
          </a:p>
        </p:txBody>
      </p:sp>
      <p:sp>
        <p:nvSpPr>
          <p:cNvPr id="22" name="selling-symbol">
            <a:extLst xmlns:a="http://schemas.openxmlformats.org/drawingml/2006/main">
              <a:ext uri="{FF2B5EF4-FFF2-40B4-BE49-F238E27FC236}">
                <a16:creationId xmlns:a16="http://schemas.microsoft.com/office/drawing/2014/main" id="{652D6F50-A67C-4EED-A6D2-1B9361A5F54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84000" y="540000"/>
            <a:ext cx="111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7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3" name="line-32">
            <a:extLst xmlns:a="http://schemas.openxmlformats.org/drawingml/2006/main">
              <a:ext uri="{FF2B5EF4-FFF2-40B4-BE49-F238E27FC236}">
                <a16:creationId xmlns:a16="http://schemas.microsoft.com/office/drawing/2014/main" id="{A6432739-4CE7-4937-9025-5F88F5164B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5292000" y="1044000"/>
            <a:ext cx="90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B6F7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3809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8808790-2639-4D92-8A8E-198F1C1266E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0" y="0"/>
            <a:ext cx="64080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input-0">
            <a:extLst xmlns:a="http://schemas.openxmlformats.org/drawingml/2006/main">
              <a:ext uri="{FF2B5EF4-FFF2-40B4-BE49-F238E27FC236}">
                <a16:creationId xmlns:a16="http://schemas.microsoft.com/office/drawing/2014/main" id="{B57307B5-D263-4BA5-A647-82DDA2D24B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000" y="90000"/>
            <a:ext cx="169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2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조성 및 가격</a:t>
            </a:r>
          </a:p>
        </p:txBody>
      </p:sp>
      <p:sp>
        <p:nvSpPr>
          <p:cNvPr id="3" name="line-33">
            <a:extLst xmlns:a="http://schemas.openxmlformats.org/drawingml/2006/main">
              <a:ext uri="{FF2B5EF4-FFF2-40B4-BE49-F238E27FC236}">
                <a16:creationId xmlns:a16="http://schemas.microsoft.com/office/drawing/2014/main" id="{B3A6831A-3569-46F9-9175-189CE2284AE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764000" y="252000"/>
            <a:ext cx="3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  <a:tailEnd type="triangle" w="sm" len="sm"/>
          </a:ln>
        </p:spPr>
      </p:sp>
      <p:sp>
        <p:nvSpPr>
          <p:cNvPr id="4" name="cost-accent-0">
            <a:extLst xmlns:a="http://schemas.openxmlformats.org/drawingml/2006/main">
              <a:ext uri="{FF2B5EF4-FFF2-40B4-BE49-F238E27FC236}">
                <a16:creationId xmlns:a16="http://schemas.microsoft.com/office/drawing/2014/main" id="{90CA58BD-71F3-4BD7-A6BD-4534AA79DBC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32000" y="36000"/>
            <a:ext cx="4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F78"/>
          </a:solidFill>
          <a:ln xmlns:a="http://schemas.openxmlformats.org/drawingml/2006/main" w="0">
            <a:noFill/>
          </a:ln>
        </p:spPr>
      </p:sp>
      <p:sp>
        <p:nvSpPr>
          <p:cNvPr id="5" name="cost-label-0">
            <a:extLst xmlns:a="http://schemas.openxmlformats.org/drawingml/2006/main">
              <a:ext uri="{FF2B5EF4-FFF2-40B4-BE49-F238E27FC236}">
                <a16:creationId xmlns:a16="http://schemas.microsoft.com/office/drawing/2014/main" id="{35AC5CEB-D602-4213-8A1B-BA0116A10D5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76000" y="36000"/>
            <a:ext cx="111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재료비</a:t>
            </a:r>
          </a:p>
        </p:txBody>
      </p:sp>
      <p:sp>
        <p:nvSpPr>
          <p:cNvPr id="6" name="cost-symbol-0">
            <a:extLst xmlns:a="http://schemas.openxmlformats.org/drawingml/2006/main">
              <a:ext uri="{FF2B5EF4-FFF2-40B4-BE49-F238E27FC236}">
                <a16:creationId xmlns:a16="http://schemas.microsoft.com/office/drawing/2014/main" id="{3FD7C587-E6F8-476A-A16C-793297253F5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76000" y="241200"/>
            <a:ext cx="6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</a:t>
            </a:r>
            <a:r>
              <a:rPr sz="1200" b="0" i="0" baseline="-25000">
                <a:solidFill>
                  <a:srgbClr val="1F2A3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7" name="line-34">
            <a:extLst xmlns:a="http://schemas.openxmlformats.org/drawingml/2006/main">
              <a:ext uri="{FF2B5EF4-FFF2-40B4-BE49-F238E27FC236}">
                <a16:creationId xmlns:a16="http://schemas.microsoft.com/office/drawing/2014/main" id="{D0F1BE5B-70AB-4D26-9F24-958C5B8E966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420000" y="252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</a:ln>
        </p:spPr>
      </p:sp>
      <p:sp>
        <p:nvSpPr>
          <p:cNvPr id="8" name="line-35">
            <a:extLst xmlns:a="http://schemas.openxmlformats.org/drawingml/2006/main">
              <a:ext uri="{FF2B5EF4-FFF2-40B4-BE49-F238E27FC236}">
                <a16:creationId xmlns:a16="http://schemas.microsoft.com/office/drawing/2014/main" id="{A4F6AB32-93AB-4B3F-A41A-A10710AB1B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636000" y="252000"/>
            <a:ext cx="0" cy="34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</a:ln>
        </p:spPr>
      </p:sp>
      <p:sp>
        <p:nvSpPr>
          <p:cNvPr id="9" name="input-1">
            <a:extLst xmlns:a="http://schemas.openxmlformats.org/drawingml/2006/main">
              <a:ext uri="{FF2B5EF4-FFF2-40B4-BE49-F238E27FC236}">
                <a16:creationId xmlns:a16="http://schemas.microsoft.com/office/drawing/2014/main" id="{14907E6E-B0C3-4A5D-BA10-FDAE6641FD5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4000" y="774000"/>
            <a:ext cx="16920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2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제조 경로 및 주문량</a:t>
            </a:r>
          </a:p>
        </p:txBody>
      </p:sp>
      <p:sp>
        <p:nvSpPr>
          <p:cNvPr id="10" name="line-36">
            <a:extLst xmlns:a="http://schemas.openxmlformats.org/drawingml/2006/main">
              <a:ext uri="{FF2B5EF4-FFF2-40B4-BE49-F238E27FC236}">
                <a16:creationId xmlns:a16="http://schemas.microsoft.com/office/drawing/2014/main" id="{4939621A-6CED-4F98-882E-DD41808DA9E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1764000" y="936000"/>
            <a:ext cx="36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  <a:tailEnd type="triangle" w="sm" len="sm"/>
          </a:ln>
        </p:spPr>
      </p:sp>
      <p:sp>
        <p:nvSpPr>
          <p:cNvPr id="11" name="cost-accent-1">
            <a:extLst xmlns:a="http://schemas.openxmlformats.org/drawingml/2006/main">
              <a:ext uri="{FF2B5EF4-FFF2-40B4-BE49-F238E27FC236}">
                <a16:creationId xmlns:a16="http://schemas.microsoft.com/office/drawing/2014/main" id="{A1997865-944B-4262-A25C-DC637753270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32000" y="720000"/>
            <a:ext cx="432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8AE"/>
          </a:solidFill>
          <a:ln xmlns:a="http://schemas.openxmlformats.org/drawingml/2006/main" w="0">
            <a:noFill/>
          </a:ln>
        </p:spPr>
      </p:sp>
      <p:sp>
        <p:nvSpPr>
          <p:cNvPr id="12" name="cost-label-1">
            <a:extLst xmlns:a="http://schemas.openxmlformats.org/drawingml/2006/main">
              <a:ext uri="{FF2B5EF4-FFF2-40B4-BE49-F238E27FC236}">
                <a16:creationId xmlns:a16="http://schemas.microsoft.com/office/drawing/2014/main" id="{7D8051FE-D490-4B89-B602-4DA7FDF392B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76000" y="720000"/>
            <a:ext cx="1116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가공비</a:t>
            </a:r>
          </a:p>
        </p:txBody>
      </p:sp>
      <p:sp>
        <p:nvSpPr>
          <p:cNvPr id="13" name="cost-symbol-1">
            <a:extLst xmlns:a="http://schemas.openxmlformats.org/drawingml/2006/main">
              <a:ext uri="{FF2B5EF4-FFF2-40B4-BE49-F238E27FC236}">
                <a16:creationId xmlns:a16="http://schemas.microsoft.com/office/drawing/2014/main" id="{4A7558FE-ABA9-44C5-A96D-B35EA046EB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76000" y="925200"/>
            <a:ext cx="612000" cy="2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</a:t>
            </a:r>
            <a:r>
              <a:rPr sz="1200" b="0" i="0" baseline="-25000">
                <a:solidFill>
                  <a:srgbClr val="1F2A3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4" name="line-37">
            <a:extLst xmlns:a="http://schemas.openxmlformats.org/drawingml/2006/main">
              <a:ext uri="{FF2B5EF4-FFF2-40B4-BE49-F238E27FC236}">
                <a16:creationId xmlns:a16="http://schemas.microsoft.com/office/drawing/2014/main" id="{3559E264-8E7A-4F92-A109-315C5CF4D31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420000" y="936000"/>
            <a:ext cx="2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</a:ln>
        </p:spPr>
      </p:sp>
      <p:sp>
        <p:nvSpPr>
          <p:cNvPr id="15" name="line-38">
            <a:extLst xmlns:a="http://schemas.openxmlformats.org/drawingml/2006/main">
              <a:ext uri="{FF2B5EF4-FFF2-40B4-BE49-F238E27FC236}">
                <a16:creationId xmlns:a16="http://schemas.microsoft.com/office/drawing/2014/main" id="{DF5EC93E-CCB7-45DF-9883-632EF0CA01B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1">
            <a:off x="3636000" y="594000"/>
            <a:ext cx="0" cy="34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</a:ln>
        </p:spPr>
      </p:sp>
      <p:sp>
        <p:nvSpPr>
          <p:cNvPr id="16" name="line-39">
            <a:extLst xmlns:a="http://schemas.openxmlformats.org/drawingml/2006/main">
              <a:ext uri="{FF2B5EF4-FFF2-40B4-BE49-F238E27FC236}">
                <a16:creationId xmlns:a16="http://schemas.microsoft.com/office/drawing/2014/main" id="{02FFE765-A34F-4561-967D-19084F9F9D3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3636000" y="594000"/>
            <a:ext cx="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</a:ln>
        </p:spPr>
      </p:sp>
      <p:sp>
        <p:nvSpPr>
          <p:cNvPr id="17" name="cost-sum">
            <a:extLst xmlns:a="http://schemas.openxmlformats.org/drawingml/2006/main">
              <a:ext uri="{FF2B5EF4-FFF2-40B4-BE49-F238E27FC236}">
                <a16:creationId xmlns:a16="http://schemas.microsoft.com/office/drawing/2014/main" id="{1A682DF2-FD46-41D0-B90B-4F9F80BBFDE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80000" y="468000"/>
            <a:ext cx="252000" cy="25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890">
            <a:solidFill>
              <a:srgbClr val="1F2A30"/>
            </a:solidFill>
          </a:ln>
        </p:spPr>
      </p:sp>
      <p:sp>
        <p:nvSpPr>
          <p:cNvPr id="18" name="plus">
            <a:extLst xmlns:a="http://schemas.openxmlformats.org/drawingml/2006/main">
              <a:ext uri="{FF2B5EF4-FFF2-40B4-BE49-F238E27FC236}">
                <a16:creationId xmlns:a16="http://schemas.microsoft.com/office/drawing/2014/main" id="{F7F2A13A-F955-4077-9C88-921FADD0CD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780000" y="450000"/>
            <a:ext cx="2520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line-40">
            <a:extLst xmlns:a="http://schemas.openxmlformats.org/drawingml/2006/main">
              <a:ext uri="{FF2B5EF4-FFF2-40B4-BE49-F238E27FC236}">
                <a16:creationId xmlns:a16="http://schemas.microsoft.com/office/drawing/2014/main" id="{2B2594B0-5759-4671-B22E-B8757679F9C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4032000" y="594000"/>
            <a:ext cx="10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1F2A30"/>
            </a:solidFill>
            <a:prstDash val="solid"/>
            <a:tailEnd type="triangle" w="sm" len="sm"/>
          </a:ln>
        </p:spPr>
      </p:sp>
      <p:sp>
        <p:nvSpPr>
          <p:cNvPr id="20" name="overheads">
            <a:extLst xmlns:a="http://schemas.openxmlformats.org/drawingml/2006/main">
              <a:ext uri="{FF2B5EF4-FFF2-40B4-BE49-F238E27FC236}">
                <a16:creationId xmlns:a16="http://schemas.microsoft.com/office/drawing/2014/main" id="{EAB8B7F0-B68D-4059-8B81-733342A92C6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96000" y="144000"/>
            <a:ext cx="111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76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간접비 및 마진</a:t>
            </a:r>
          </a:p>
        </p:txBody>
      </p:sp>
      <p:sp>
        <p:nvSpPr>
          <p:cNvPr id="21" name="selling-label">
            <a:extLst xmlns:a="http://schemas.openxmlformats.org/drawingml/2006/main">
              <a:ext uri="{FF2B5EF4-FFF2-40B4-BE49-F238E27FC236}">
                <a16:creationId xmlns:a16="http://schemas.microsoft.com/office/drawing/2014/main" id="{AEEDA9B0-C61E-4E4E-9E75-67E04EA2828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84000" y="216000"/>
            <a:ext cx="1116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1">
                <a:solidFill>
                  <a:srgbClr val="1B6F78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1">
                <a:solidFill>
                  <a:srgbClr val="1B6F78"/>
                </a:solidFill>
                <a:latin typeface="Malgun Gothic"/>
                <a:ea typeface="Malgun Gothic"/>
                <a:cs typeface="Malgun Gothic"/>
              </a:rPr>
              <a:t>판매 단가</a:t>
            </a:r>
          </a:p>
        </p:txBody>
      </p:sp>
      <p:sp>
        <p:nvSpPr>
          <p:cNvPr id="22" name="selling-symbol">
            <a:extLst xmlns:a="http://schemas.openxmlformats.org/drawingml/2006/main">
              <a:ext uri="{FF2B5EF4-FFF2-40B4-BE49-F238E27FC236}">
                <a16:creationId xmlns:a16="http://schemas.microsoft.com/office/drawing/2014/main" id="{39C71B2E-916B-4B2B-81A5-7575F634882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184000" y="540000"/>
            <a:ext cx="111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7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23" name="line-41">
            <a:extLst xmlns:a="http://schemas.openxmlformats.org/drawingml/2006/main">
              <a:ext uri="{FF2B5EF4-FFF2-40B4-BE49-F238E27FC236}">
                <a16:creationId xmlns:a16="http://schemas.microsoft.com/office/drawing/2014/main" id="{B67FC9CE-3FAD-47FB-89BD-1FB03D4B09F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 flipH="0" flipV="0">
            <a:off x="5292000" y="1044000"/>
            <a:ext cx="90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B6F7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7945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COMET</dc:creator>
  <lastModifiedBy>COMET</lastModifiedBy>
  <dc:title>Presentation</dc:title>
  <dcterms:created xsi:type="dcterms:W3CDTF">2026-09-13T03:53:16.8410000Z</dcterms:created>
  <dcterms:modified xsi:type="dcterms:W3CDTF">2026-09-13T03:53:16.8410000Z</dcterms:modified>
</coreProperties>
</file>