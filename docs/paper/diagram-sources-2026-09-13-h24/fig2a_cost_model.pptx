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a4797007554f29" /><Relationship Type="http://schemas.openxmlformats.org/officeDocument/2006/relationships/extended-properties" Target="/docProps/app.xml" Id="R558d7ed822904ce4" /><Relationship Type="http://schemas.openxmlformats.org/officeDocument/2006/relationships/officeDocument" Target="/ppt/presentation.xml" Id="R821f7eb9ef964faf" /></Relationships>
</file>

<file path=ppt/presentation.xml><?xml version="1.0" encoding="utf-8"?>
<p:presentation xmlns:p="http://schemas.openxmlformats.org/presentationml/2006/main">
  <p:sldMasterIdLst>
    <p:sldMasterId xmlns:r="http://schemas.openxmlformats.org/officeDocument/2006/relationships" id="2147483648" r:id="R5aaeb72488aa41cb"/>
  </p:sldMasterIdLst>
  <p:notesMasterIdLst>
    <p:notesMasterId xmlns:r="http://schemas.openxmlformats.org/officeDocument/2006/relationships" r:id="R85e8ccc747b449be"/>
  </p:notesMasterIdLst>
  <p:sldIdLst>
    <p:sldId xmlns:r="http://schemas.openxmlformats.org/officeDocument/2006/relationships" id="256" r:id="R983fb689a31e4a3d"/>
    <p:sldId xmlns:r="http://schemas.openxmlformats.org/officeDocument/2006/relationships" id="257" r:id="Rb9fa7173fb374e02"/>
  </p:sldIdLst>
  <p:sldSz cx="6408000" cy="213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ed0c808c0a4d4a" /><Relationship Type="http://schemas.openxmlformats.org/officeDocument/2006/relationships/slideMaster" Target="/ppt/slideMasters/slideMaster1.xml" Id="R5aaeb72488aa41cb" /><Relationship Type="http://schemas.openxmlformats.org/officeDocument/2006/relationships/notesMaster" Target="/ppt/notesMasters/notesMaster1.xml" Id="R85e8ccc747b449be" /><Relationship Type="http://schemas.openxmlformats.org/officeDocument/2006/relationships/presProps" Target="/ppt/presProps.xml" Id="R32585c4697d64a55" /><Relationship Type="http://schemas.openxmlformats.org/officeDocument/2006/relationships/tableStyles" Target="/ppt/tableStyles.xml" Id="Ra2ab0132a8b84c6f" /><Relationship Type="http://schemas.openxmlformats.org/officeDocument/2006/relationships/slide" Target="/ppt/slides/slide1.xml" Id="R983fb689a31e4a3d" /><Relationship Type="http://schemas.openxmlformats.org/officeDocument/2006/relationships/slide" Target="/ppt/slides/slide2.xml" Id="Rb9fa7173fb374e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5dd5548f1044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daabbd30cf449a" /><Relationship Type="http://schemas.openxmlformats.org/officeDocument/2006/relationships/notesMaster" Target="/ppt/notesMasters/notesMaster1.xml" Id="Rbb71533fc97548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db266de7a24ba1" /><Relationship Type="http://schemas.openxmlformats.org/officeDocument/2006/relationships/notesMaster" Target="/ppt/notesMasters/notesMaster1.xml" Id="R94621e1c223244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COMET, September 13, 2026. Accepted GPT schematic artwork edited with OpenAI image generation to remove lettering, then embedded without manual raster edits. All wording is native editable PowerPoint text in English or Korean. Scientific illustrations are schematic, not observations or a required preparation route. See README.md and recorded prompts.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COMET, September 13, 2026. Accepted GPT schematic artwork edited with OpenAI image generation to remove lettering, then embedded without manual raster edits. All wording is native editable PowerPoint text in English or Korean. Scientific illustrations are schematic, not observations or a required preparation route. See README.md and recorded prompts.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ef8ed2377c45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5f5d38fa0c4ef8" /><Relationship Type="http://schemas.openxmlformats.org/officeDocument/2006/relationships/slideLayout" Target="/ppt/slideLayouts/slideLayout1.xml" Id="R4468e5b5e61548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68e5b5e61548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40e50eefa24e27" /><Relationship Type="http://schemas.openxmlformats.org/officeDocument/2006/relationships/image" Target="/ppt/media/image.png" Id="R0e7acd7ce08f4eb5" /><Relationship Type="http://schemas.openxmlformats.org/officeDocument/2006/relationships/notesSlide" Target="/ppt/notesSlides/notesSlide1.xml" Id="R53f10a3f34c147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6a11b6554e449a" /><Relationship Type="http://schemas.openxmlformats.org/officeDocument/2006/relationships/image" Target="/ppt/media/image2.png" Id="R3aa7323c8101421c" /><Relationship Type="http://schemas.openxmlformats.org/officeDocument/2006/relationships/notesSlide" Target="/ppt/notesSlides/notesSlide2.xml" Id="R3b7ea3e805df4fe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background">
            <a:extLst xmlns:a="http://schemas.openxmlformats.org/drawingml/2006/main">
              <a:ext uri="{FF2B5EF4-FFF2-40B4-BE49-F238E27FC236}">
                <a16:creationId xmlns:a16="http://schemas.microsoft.com/office/drawing/2014/main" id="{7448F2D4-6054-4ECC-99A3-C9E3D98FF9F9}"/>
              </a:ext>
            </a:extLst>
          </p:cNvPr>
          <p:cNvSpPr>
            <a:spLocks xmlns:a="http://schemas.openxmlformats.org/drawingml/2006/main"/>
          </p:cNvSpPr>
          <p:nvPr/>
        </p:nvSpPr>
        <p:spPr>
          <a:xfrm xmlns:a="http://schemas.openxmlformats.org/drawingml/2006/main">
            <a:off x="0" y="0"/>
            <a:ext cx="6408000" cy="2136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e7acd7ce08f4eb5"/>
          <a:stretch xmlns:a="http://schemas.openxmlformats.org/drawingml/2006/main"/>
        </p:blipFill>
        <p:spPr>
          <a:xfrm xmlns:a="http://schemas.openxmlformats.org/drawingml/2006/main">
            <a:off x="0" y="0"/>
            <a:ext cx="6408000" cy="2136000"/>
          </a:xfrm>
          <a:prstGeom xmlns:a="http://schemas.openxmlformats.org/drawingml/2006/main" prst="rect">
            <a:avLst/>
          </a:prstGeom>
        </p:spPr>
      </p:pic>
      <p:sp>
        <p:nvSpPr>
          <p:cNvPr id="3" name="panel-a">
            <a:extLst xmlns:a="http://schemas.openxmlformats.org/drawingml/2006/main">
              <a:ext uri="{FF2B5EF4-FFF2-40B4-BE49-F238E27FC236}">
                <a16:creationId xmlns:a16="http://schemas.microsoft.com/office/drawing/2014/main" id="{C3713976-6B2F-4EF4-AAE7-766726BB5315}"/>
              </a:ext>
            </a:extLst>
          </p:cNvPr>
          <p:cNvSpPr>
            <a:spLocks xmlns:a="http://schemas.openxmlformats.org/drawingml/2006/main"/>
          </p:cNvSpPr>
          <p:nvPr/>
        </p:nvSpPr>
        <p:spPr>
          <a:xfrm xmlns:a="http://schemas.openxmlformats.org/drawingml/2006/main">
            <a:off x="72000" y="21600"/>
            <a:ext cx="25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00" b="1">
                <a:solidFill>
                  <a:srgbClr val="1F2A30"/>
                </a:solidFill>
                <a:latin typeface="Arial"/>
                <a:ea typeface="Arial"/>
                <a:cs typeface="Arial"/>
              </a:defRPr>
            </a:pPr>
            <a:r>
              <a:rPr sz="1000" b="1">
                <a:solidFill>
                  <a:srgbClr val="1F2A30"/>
                </a:solidFill>
                <a:latin typeface="Arial"/>
                <a:ea typeface="Arial"/>
                <a:cs typeface="Arial"/>
              </a:rPr>
              <a:t>(a)</a:t>
            </a:r>
          </a:p>
        </p:txBody>
      </p:sp>
      <p:sp>
        <p:nvSpPr>
          <p:cNvPr id="4" name="input-formulation">
            <a:extLst xmlns:a="http://schemas.openxmlformats.org/drawingml/2006/main">
              <a:ext uri="{FF2B5EF4-FFF2-40B4-BE49-F238E27FC236}">
                <a16:creationId xmlns:a16="http://schemas.microsoft.com/office/drawing/2014/main" id="{D2AB078F-1FBF-4622-877B-0A4DDFDA0BFA}"/>
              </a:ext>
            </a:extLst>
          </p:cNvPr>
          <p:cNvSpPr>
            <a:spLocks xmlns:a="http://schemas.openxmlformats.org/drawingml/2006/main"/>
          </p:cNvSpPr>
          <p:nvPr/>
        </p:nvSpPr>
        <p:spPr>
          <a:xfrm xmlns:a="http://schemas.openxmlformats.org/drawingml/2006/main">
            <a:off x="216000" y="871200"/>
            <a:ext cx="205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Arial"/>
                <a:ea typeface="Arial"/>
                <a:cs typeface="Arial"/>
              </a:defRPr>
            </a:pPr>
            <a:r>
              <a:rPr sz="950" b="0">
                <a:solidFill>
                  <a:srgbClr val="1F2A30"/>
                </a:solidFill>
                <a:latin typeface="Arial"/>
                <a:ea typeface="Arial"/>
                <a:cs typeface="Arial"/>
              </a:rPr>
              <a:t>Formulation and prices</a:t>
            </a:r>
          </a:p>
        </p:txBody>
      </p:sp>
      <p:sp>
        <p:nvSpPr>
          <p:cNvPr id="5" name="input-route">
            <a:extLst xmlns:a="http://schemas.openxmlformats.org/drawingml/2006/main">
              <a:ext uri="{FF2B5EF4-FFF2-40B4-BE49-F238E27FC236}">
                <a16:creationId xmlns:a16="http://schemas.microsoft.com/office/drawing/2014/main" id="{7A4F8D13-0591-4536-9D5A-E87E6E694546}"/>
              </a:ext>
            </a:extLst>
          </p:cNvPr>
          <p:cNvSpPr>
            <a:spLocks xmlns:a="http://schemas.openxmlformats.org/drawingml/2006/main"/>
          </p:cNvSpPr>
          <p:nvPr/>
        </p:nvSpPr>
        <p:spPr>
          <a:xfrm xmlns:a="http://schemas.openxmlformats.org/drawingml/2006/main">
            <a:off x="144000" y="1843200"/>
            <a:ext cx="219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Arial"/>
                <a:ea typeface="Arial"/>
                <a:cs typeface="Arial"/>
              </a:defRPr>
            </a:pPr>
            <a:r>
              <a:rPr sz="950" b="0">
                <a:solidFill>
                  <a:srgbClr val="1F2A30"/>
                </a:solidFill>
                <a:latin typeface="Arial"/>
                <a:ea typeface="Arial"/>
                <a:cs typeface="Arial"/>
              </a:rPr>
              <a:t>Route and order size</a:t>
            </a:r>
          </a:p>
        </p:txBody>
      </p:sp>
      <p:sp>
        <p:nvSpPr>
          <p:cNvPr id="6" name="materials">
            <a:extLst xmlns:a="http://schemas.openxmlformats.org/drawingml/2006/main">
              <a:ext uri="{FF2B5EF4-FFF2-40B4-BE49-F238E27FC236}">
                <a16:creationId xmlns:a16="http://schemas.microsoft.com/office/drawing/2014/main" id="{20025F45-A718-4A2B-9219-15CAEA76A90F}"/>
              </a:ext>
            </a:extLst>
          </p:cNvPr>
          <p:cNvSpPr>
            <a:spLocks xmlns:a="http://schemas.openxmlformats.org/drawingml/2006/main"/>
          </p:cNvSpPr>
          <p:nvPr/>
        </p:nvSpPr>
        <p:spPr>
          <a:xfrm xmlns:a="http://schemas.openxmlformats.org/drawingml/2006/main">
            <a:off x="2595600" y="428400"/>
            <a:ext cx="774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Arial"/>
                <a:ea typeface="Arial"/>
                <a:cs typeface="Arial"/>
              </a:defRPr>
            </a:pPr>
            <a:r>
              <a:rPr sz="850" b="0">
                <a:solidFill>
                  <a:srgbClr val="1F2A30"/>
                </a:solidFill>
                <a:latin typeface="Arial"/>
                <a:ea typeface="Arial"/>
                <a:cs typeface="Arial"/>
              </a:rPr>
              <a:t>Materials</a:t>
            </a:r>
          </a:p>
        </p:txBody>
      </p:sp>
      <p:sp>
        <p:nvSpPr>
          <p:cNvPr id="7" name="symbol-m">
            <a:extLst xmlns:a="http://schemas.openxmlformats.org/drawingml/2006/main">
              <a:ext uri="{FF2B5EF4-FFF2-40B4-BE49-F238E27FC236}">
                <a16:creationId xmlns:a16="http://schemas.microsoft.com/office/drawing/2014/main" id="{14FEA54A-76F8-4F75-9CD6-A6AC295612E6}"/>
              </a:ext>
            </a:extLst>
          </p:cNvPr>
          <p:cNvSpPr>
            <a:spLocks xmlns:a="http://schemas.openxmlformats.org/drawingml/2006/main"/>
          </p:cNvSpPr>
          <p:nvPr/>
        </p:nvSpPr>
        <p:spPr>
          <a:xfrm xmlns:a="http://schemas.openxmlformats.org/drawingml/2006/main">
            <a:off x="2710800" y="590400"/>
            <a:ext cx="540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C</a:t>
            </a:r>
            <a:r>
              <a:rPr sz="1200" b="0" i="1" baseline="-25000">
                <a:solidFill>
                  <a:srgbClr val="1F2A30"/>
                </a:solidFill>
                <a:latin typeface="Arial"/>
                <a:ea typeface="Arial"/>
                <a:cs typeface="Arial"/>
              </a:rPr>
              <a:t>m</a:t>
            </a:r>
          </a:p>
        </p:txBody>
      </p:sp>
      <p:sp>
        <p:nvSpPr>
          <p:cNvPr id="8" name="processing">
            <a:extLst xmlns:a="http://schemas.openxmlformats.org/drawingml/2006/main">
              <a:ext uri="{FF2B5EF4-FFF2-40B4-BE49-F238E27FC236}">
                <a16:creationId xmlns:a16="http://schemas.microsoft.com/office/drawing/2014/main" id="{639FCE07-7475-46C8-A4AB-7599764CE438}"/>
              </a:ext>
            </a:extLst>
          </p:cNvPr>
          <p:cNvSpPr>
            <a:spLocks xmlns:a="http://schemas.openxmlformats.org/drawingml/2006/main"/>
          </p:cNvSpPr>
          <p:nvPr/>
        </p:nvSpPr>
        <p:spPr>
          <a:xfrm xmlns:a="http://schemas.openxmlformats.org/drawingml/2006/main">
            <a:off x="2584800" y="1350000"/>
            <a:ext cx="792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Arial"/>
                <a:ea typeface="Arial"/>
                <a:cs typeface="Arial"/>
              </a:defRPr>
            </a:pPr>
            <a:r>
              <a:rPr sz="850" b="0">
                <a:solidFill>
                  <a:srgbClr val="1F2A30"/>
                </a:solidFill>
                <a:latin typeface="Arial"/>
                <a:ea typeface="Arial"/>
                <a:cs typeface="Arial"/>
              </a:rPr>
              <a:t>Processing</a:t>
            </a:r>
          </a:p>
        </p:txBody>
      </p:sp>
      <p:sp>
        <p:nvSpPr>
          <p:cNvPr id="9" name="symbol-p">
            <a:extLst xmlns:a="http://schemas.openxmlformats.org/drawingml/2006/main">
              <a:ext uri="{FF2B5EF4-FFF2-40B4-BE49-F238E27FC236}">
                <a16:creationId xmlns:a16="http://schemas.microsoft.com/office/drawing/2014/main" id="{9ACF6DBA-8F4A-489C-A06A-A4EBFA2EBBBF}"/>
              </a:ext>
            </a:extLst>
          </p:cNvPr>
          <p:cNvSpPr>
            <a:spLocks xmlns:a="http://schemas.openxmlformats.org/drawingml/2006/main"/>
          </p:cNvSpPr>
          <p:nvPr/>
        </p:nvSpPr>
        <p:spPr>
          <a:xfrm xmlns:a="http://schemas.openxmlformats.org/drawingml/2006/main">
            <a:off x="2710800" y="1512000"/>
            <a:ext cx="540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C</a:t>
            </a:r>
            <a:r>
              <a:rPr sz="1200" b="0" i="1" baseline="-25000">
                <a:solidFill>
                  <a:srgbClr val="1F2A30"/>
                </a:solidFill>
                <a:latin typeface="Arial"/>
                <a:ea typeface="Arial"/>
                <a:cs typeface="Arial"/>
              </a:rPr>
              <a:t>p</a:t>
            </a:r>
          </a:p>
        </p:txBody>
      </p:sp>
      <p:sp>
        <p:nvSpPr>
          <p:cNvPr id="10" name="sum">
            <a:extLst xmlns:a="http://schemas.openxmlformats.org/drawingml/2006/main">
              <a:ext uri="{FF2B5EF4-FFF2-40B4-BE49-F238E27FC236}">
                <a16:creationId xmlns:a16="http://schemas.microsoft.com/office/drawing/2014/main" id="{3EC3EDD8-7330-4B9A-8950-028F4431DAC9}"/>
              </a:ext>
            </a:extLst>
          </p:cNvPr>
          <p:cNvSpPr>
            <a:spLocks xmlns:a="http://schemas.openxmlformats.org/drawingml/2006/main"/>
          </p:cNvSpPr>
          <p:nvPr/>
        </p:nvSpPr>
        <p:spPr>
          <a:xfrm xmlns:a="http://schemas.openxmlformats.org/drawingml/2006/main">
            <a:off x="3621600" y="964800"/>
            <a:ext cx="234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0">
                <a:solidFill>
                  <a:srgbClr val="1F2A30"/>
                </a:solidFill>
                <a:latin typeface="Arial"/>
                <a:ea typeface="Arial"/>
                <a:cs typeface="Arial"/>
              </a:defRPr>
            </a:pPr>
            <a:r>
              <a:rPr sz="1400" b="0">
                <a:solidFill>
                  <a:srgbClr val="1F2A30"/>
                </a:solidFill>
                <a:latin typeface="Arial"/>
                <a:ea typeface="Arial"/>
                <a:cs typeface="Arial"/>
              </a:rPr>
              <a:t>+</a:t>
            </a:r>
          </a:p>
        </p:txBody>
      </p:sp>
      <p:sp>
        <p:nvSpPr>
          <p:cNvPr id="11" name="overheads-1">
            <a:extLst xmlns:a="http://schemas.openxmlformats.org/drawingml/2006/main">
              <a:ext uri="{FF2B5EF4-FFF2-40B4-BE49-F238E27FC236}">
                <a16:creationId xmlns:a16="http://schemas.microsoft.com/office/drawing/2014/main" id="{646B4882-0F32-4783-A41C-0F21733536DD}"/>
              </a:ext>
            </a:extLst>
          </p:cNvPr>
          <p:cNvSpPr>
            <a:spLocks xmlns:a="http://schemas.openxmlformats.org/drawingml/2006/main"/>
          </p:cNvSpPr>
          <p:nvPr/>
        </p:nvSpPr>
        <p:spPr>
          <a:xfrm xmlns:a="http://schemas.openxmlformats.org/drawingml/2006/main">
            <a:off x="4176000" y="907200"/>
            <a:ext cx="738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Arial"/>
                <a:ea typeface="Arial"/>
                <a:cs typeface="Arial"/>
              </a:defRPr>
            </a:pPr>
            <a:r>
              <a:rPr sz="950" b="0">
                <a:solidFill>
                  <a:srgbClr val="1F2A30"/>
                </a:solidFill>
                <a:latin typeface="Arial"/>
                <a:ea typeface="Arial"/>
                <a:cs typeface="Arial"/>
              </a:rPr>
              <a:t>Overheads</a:t>
            </a:r>
          </a:p>
        </p:txBody>
      </p:sp>
      <p:sp>
        <p:nvSpPr>
          <p:cNvPr id="12" name="overheads-2">
            <a:extLst xmlns:a="http://schemas.openxmlformats.org/drawingml/2006/main">
              <a:ext uri="{FF2B5EF4-FFF2-40B4-BE49-F238E27FC236}">
                <a16:creationId xmlns:a16="http://schemas.microsoft.com/office/drawing/2014/main" id="{C24B07B6-FB49-42DA-B751-3ACDD5E1D299}"/>
              </a:ext>
            </a:extLst>
          </p:cNvPr>
          <p:cNvSpPr>
            <a:spLocks xmlns:a="http://schemas.openxmlformats.org/drawingml/2006/main"/>
          </p:cNvSpPr>
          <p:nvPr/>
        </p:nvSpPr>
        <p:spPr>
          <a:xfrm xmlns:a="http://schemas.openxmlformats.org/drawingml/2006/main">
            <a:off x="4140000" y="1062000"/>
            <a:ext cx="810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Arial"/>
                <a:ea typeface="Arial"/>
                <a:cs typeface="Arial"/>
              </a:defRPr>
            </a:pPr>
            <a:r>
              <a:rPr sz="950" b="0">
                <a:solidFill>
                  <a:srgbClr val="1F2A30"/>
                </a:solidFill>
                <a:latin typeface="Arial"/>
                <a:ea typeface="Arial"/>
                <a:cs typeface="Arial"/>
              </a:rPr>
              <a:t>and margin</a:t>
            </a:r>
          </a:p>
        </p:txBody>
      </p:sp>
      <p:sp>
        <p:nvSpPr>
          <p:cNvPr id="13" name="selling-price-1">
            <a:extLst xmlns:a="http://schemas.openxmlformats.org/drawingml/2006/main">
              <a:ext uri="{FF2B5EF4-FFF2-40B4-BE49-F238E27FC236}">
                <a16:creationId xmlns:a16="http://schemas.microsoft.com/office/drawing/2014/main" id="{495CE733-831E-4E1A-B816-9E5C0C0973D6}"/>
              </a:ext>
            </a:extLst>
          </p:cNvPr>
          <p:cNvSpPr>
            <a:spLocks xmlns:a="http://schemas.openxmlformats.org/drawingml/2006/main"/>
          </p:cNvSpPr>
          <p:nvPr/>
        </p:nvSpPr>
        <p:spPr>
          <a:xfrm xmlns:a="http://schemas.openxmlformats.org/drawingml/2006/main">
            <a:off x="5223600" y="838800"/>
            <a:ext cx="612000" cy="15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Arial"/>
                <a:ea typeface="Arial"/>
                <a:cs typeface="Arial"/>
              </a:defRPr>
            </a:pPr>
            <a:r>
              <a:rPr sz="950" b="0">
                <a:solidFill>
                  <a:srgbClr val="1F2A30"/>
                </a:solidFill>
                <a:latin typeface="Arial"/>
                <a:ea typeface="Arial"/>
                <a:cs typeface="Arial"/>
              </a:rPr>
              <a:t>Selling</a:t>
            </a:r>
          </a:p>
        </p:txBody>
      </p:sp>
      <p:sp>
        <p:nvSpPr>
          <p:cNvPr id="14" name="selling-price-2">
            <a:extLst xmlns:a="http://schemas.openxmlformats.org/drawingml/2006/main">
              <a:ext uri="{FF2B5EF4-FFF2-40B4-BE49-F238E27FC236}">
                <a16:creationId xmlns:a16="http://schemas.microsoft.com/office/drawing/2014/main" id="{B906FB1F-326E-410F-A2D0-B9C9AE3B68D9}"/>
              </a:ext>
            </a:extLst>
          </p:cNvPr>
          <p:cNvSpPr>
            <a:spLocks xmlns:a="http://schemas.openxmlformats.org/drawingml/2006/main"/>
          </p:cNvSpPr>
          <p:nvPr/>
        </p:nvSpPr>
        <p:spPr>
          <a:xfrm xmlns:a="http://schemas.openxmlformats.org/drawingml/2006/main">
            <a:off x="5223600" y="975600"/>
            <a:ext cx="612000" cy="15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Arial"/>
                <a:ea typeface="Arial"/>
                <a:cs typeface="Arial"/>
              </a:defRPr>
            </a:pPr>
            <a:r>
              <a:rPr sz="950" b="0">
                <a:solidFill>
                  <a:srgbClr val="1F2A30"/>
                </a:solidFill>
                <a:latin typeface="Arial"/>
                <a:ea typeface="Arial"/>
                <a:cs typeface="Arial"/>
              </a:rPr>
              <a:t>price</a:t>
            </a:r>
          </a:p>
        </p:txBody>
      </p:sp>
      <p:sp>
        <p:nvSpPr>
          <p:cNvPr id="15" name="symbol-price">
            <a:extLst xmlns:a="http://schemas.openxmlformats.org/drawingml/2006/main">
              <a:ext uri="{FF2B5EF4-FFF2-40B4-BE49-F238E27FC236}">
                <a16:creationId xmlns:a16="http://schemas.microsoft.com/office/drawing/2014/main" id="{1212C0A1-C9E4-42E6-BCAB-31BCA477A778}"/>
              </a:ext>
            </a:extLst>
          </p:cNvPr>
          <p:cNvSpPr>
            <a:spLocks xmlns:a="http://schemas.openxmlformats.org/drawingml/2006/main"/>
          </p:cNvSpPr>
          <p:nvPr/>
        </p:nvSpPr>
        <p:spPr>
          <a:xfrm xmlns:a="http://schemas.openxmlformats.org/drawingml/2006/main">
            <a:off x="5374800" y="1123200"/>
            <a:ext cx="306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P</a:t>
            </a:r>
          </a:p>
        </p:txBody>
      </p:sp>
    </p:spTree>
    <p:extLst>
      <p:ext uri="{BB962C8B-B14F-4D97-AF65-F5344CB8AC3E}">
        <p14:creationId xmlns:p14="http://schemas.microsoft.com/office/powerpoint/2010/main" val="4746711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background">
            <a:extLst xmlns:a="http://schemas.openxmlformats.org/drawingml/2006/main">
              <a:ext uri="{FF2B5EF4-FFF2-40B4-BE49-F238E27FC236}">
                <a16:creationId xmlns:a16="http://schemas.microsoft.com/office/drawing/2014/main" id="{85923E93-FEF1-4CF0-8788-21E8385ECEA6}"/>
              </a:ext>
            </a:extLst>
          </p:cNvPr>
          <p:cNvSpPr>
            <a:spLocks xmlns:a="http://schemas.openxmlformats.org/drawingml/2006/main"/>
          </p:cNvSpPr>
          <p:nvPr/>
        </p:nvSpPr>
        <p:spPr>
          <a:xfrm xmlns:a="http://schemas.openxmlformats.org/drawingml/2006/main">
            <a:off x="0" y="0"/>
            <a:ext cx="6408000" cy="2136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aa7323c8101421c"/>
          <a:stretch xmlns:a="http://schemas.openxmlformats.org/drawingml/2006/main"/>
        </p:blipFill>
        <p:spPr>
          <a:xfrm xmlns:a="http://schemas.openxmlformats.org/drawingml/2006/main">
            <a:off x="0" y="0"/>
            <a:ext cx="6408000" cy="2136000"/>
          </a:xfrm>
          <a:prstGeom xmlns:a="http://schemas.openxmlformats.org/drawingml/2006/main" prst="rect">
            <a:avLst/>
          </a:prstGeom>
        </p:spPr>
      </p:pic>
      <p:sp>
        <p:nvSpPr>
          <p:cNvPr id="3" name="panel-a">
            <a:extLst xmlns:a="http://schemas.openxmlformats.org/drawingml/2006/main">
              <a:ext uri="{FF2B5EF4-FFF2-40B4-BE49-F238E27FC236}">
                <a16:creationId xmlns:a16="http://schemas.microsoft.com/office/drawing/2014/main" id="{B64A0365-C9F7-4C3D-9564-FA8DA4B3833B}"/>
              </a:ext>
            </a:extLst>
          </p:cNvPr>
          <p:cNvSpPr>
            <a:spLocks xmlns:a="http://schemas.openxmlformats.org/drawingml/2006/main"/>
          </p:cNvSpPr>
          <p:nvPr/>
        </p:nvSpPr>
        <p:spPr>
          <a:xfrm xmlns:a="http://schemas.openxmlformats.org/drawingml/2006/main">
            <a:off x="72000" y="21600"/>
            <a:ext cx="25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00" b="1">
                <a:solidFill>
                  <a:srgbClr val="1F2A30"/>
                </a:solidFill>
                <a:latin typeface="Arial"/>
                <a:ea typeface="Arial"/>
                <a:cs typeface="Arial"/>
              </a:defRPr>
            </a:pPr>
            <a:r>
              <a:rPr sz="1000" b="1">
                <a:solidFill>
                  <a:srgbClr val="1F2A30"/>
                </a:solidFill>
                <a:latin typeface="Arial"/>
                <a:ea typeface="Arial"/>
                <a:cs typeface="Arial"/>
              </a:rPr>
              <a:t>(a)</a:t>
            </a:r>
          </a:p>
        </p:txBody>
      </p:sp>
      <p:sp>
        <p:nvSpPr>
          <p:cNvPr id="4" name="input-formulation">
            <a:extLst xmlns:a="http://schemas.openxmlformats.org/drawingml/2006/main">
              <a:ext uri="{FF2B5EF4-FFF2-40B4-BE49-F238E27FC236}">
                <a16:creationId xmlns:a16="http://schemas.microsoft.com/office/drawing/2014/main" id="{03C698A0-B409-416C-AEC2-071D41A3A574}"/>
              </a:ext>
            </a:extLst>
          </p:cNvPr>
          <p:cNvSpPr>
            <a:spLocks xmlns:a="http://schemas.openxmlformats.org/drawingml/2006/main"/>
          </p:cNvSpPr>
          <p:nvPr/>
        </p:nvSpPr>
        <p:spPr>
          <a:xfrm xmlns:a="http://schemas.openxmlformats.org/drawingml/2006/main">
            <a:off x="216000" y="871200"/>
            <a:ext cx="205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Malgun Gothic"/>
                <a:ea typeface="Malgun Gothic"/>
                <a:cs typeface="Malgun Gothic"/>
              </a:defRPr>
            </a:pPr>
            <a:r>
              <a:rPr sz="950" b="0">
                <a:solidFill>
                  <a:srgbClr val="1F2A30"/>
                </a:solidFill>
                <a:latin typeface="Malgun Gothic"/>
                <a:ea typeface="Malgun Gothic"/>
                <a:cs typeface="Malgun Gothic"/>
              </a:rPr>
              <a:t>조성 및 가격</a:t>
            </a:r>
          </a:p>
        </p:txBody>
      </p:sp>
      <p:sp>
        <p:nvSpPr>
          <p:cNvPr id="5" name="input-route">
            <a:extLst xmlns:a="http://schemas.openxmlformats.org/drawingml/2006/main">
              <a:ext uri="{FF2B5EF4-FFF2-40B4-BE49-F238E27FC236}">
                <a16:creationId xmlns:a16="http://schemas.microsoft.com/office/drawing/2014/main" id="{DE7B1AA9-7BD3-4CE7-9733-B02AE7E351BB}"/>
              </a:ext>
            </a:extLst>
          </p:cNvPr>
          <p:cNvSpPr>
            <a:spLocks xmlns:a="http://schemas.openxmlformats.org/drawingml/2006/main"/>
          </p:cNvSpPr>
          <p:nvPr/>
        </p:nvSpPr>
        <p:spPr>
          <a:xfrm xmlns:a="http://schemas.openxmlformats.org/drawingml/2006/main">
            <a:off x="144000" y="1843200"/>
            <a:ext cx="219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Malgun Gothic"/>
                <a:ea typeface="Malgun Gothic"/>
                <a:cs typeface="Malgun Gothic"/>
              </a:defRPr>
            </a:pPr>
            <a:r>
              <a:rPr sz="950" b="0">
                <a:solidFill>
                  <a:srgbClr val="1F2A30"/>
                </a:solidFill>
                <a:latin typeface="Malgun Gothic"/>
                <a:ea typeface="Malgun Gothic"/>
                <a:cs typeface="Malgun Gothic"/>
              </a:rPr>
              <a:t>제조 경로 및 주문량</a:t>
            </a:r>
          </a:p>
        </p:txBody>
      </p:sp>
      <p:sp>
        <p:nvSpPr>
          <p:cNvPr id="6" name="materials">
            <a:extLst xmlns:a="http://schemas.openxmlformats.org/drawingml/2006/main">
              <a:ext uri="{FF2B5EF4-FFF2-40B4-BE49-F238E27FC236}">
                <a16:creationId xmlns:a16="http://schemas.microsoft.com/office/drawing/2014/main" id="{2F1BDC17-EF1A-43DD-B71E-D169E995FFC2}"/>
              </a:ext>
            </a:extLst>
          </p:cNvPr>
          <p:cNvSpPr>
            <a:spLocks xmlns:a="http://schemas.openxmlformats.org/drawingml/2006/main"/>
          </p:cNvSpPr>
          <p:nvPr/>
        </p:nvSpPr>
        <p:spPr>
          <a:xfrm xmlns:a="http://schemas.openxmlformats.org/drawingml/2006/main">
            <a:off x="2595600" y="428400"/>
            <a:ext cx="774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Malgun Gothic"/>
                <a:ea typeface="Malgun Gothic"/>
                <a:cs typeface="Malgun Gothic"/>
              </a:defRPr>
            </a:pPr>
            <a:r>
              <a:rPr sz="850" b="0">
                <a:solidFill>
                  <a:srgbClr val="1F2A30"/>
                </a:solidFill>
                <a:latin typeface="Malgun Gothic"/>
                <a:ea typeface="Malgun Gothic"/>
                <a:cs typeface="Malgun Gothic"/>
              </a:rPr>
              <a:t>재료비</a:t>
            </a:r>
          </a:p>
        </p:txBody>
      </p:sp>
      <p:sp>
        <p:nvSpPr>
          <p:cNvPr id="7" name="symbol-m">
            <a:extLst xmlns:a="http://schemas.openxmlformats.org/drawingml/2006/main">
              <a:ext uri="{FF2B5EF4-FFF2-40B4-BE49-F238E27FC236}">
                <a16:creationId xmlns:a16="http://schemas.microsoft.com/office/drawing/2014/main" id="{BBA731D0-4FDC-4C59-BD9C-C1D0FB817043}"/>
              </a:ext>
            </a:extLst>
          </p:cNvPr>
          <p:cNvSpPr>
            <a:spLocks xmlns:a="http://schemas.openxmlformats.org/drawingml/2006/main"/>
          </p:cNvSpPr>
          <p:nvPr/>
        </p:nvSpPr>
        <p:spPr>
          <a:xfrm xmlns:a="http://schemas.openxmlformats.org/drawingml/2006/main">
            <a:off x="2710800" y="590400"/>
            <a:ext cx="540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C</a:t>
            </a:r>
            <a:r>
              <a:rPr sz="1200" b="0" i="1" baseline="-25000">
                <a:solidFill>
                  <a:srgbClr val="1F2A30"/>
                </a:solidFill>
                <a:latin typeface="Arial"/>
                <a:ea typeface="Arial"/>
                <a:cs typeface="Arial"/>
              </a:rPr>
              <a:t>m</a:t>
            </a:r>
          </a:p>
        </p:txBody>
      </p:sp>
      <p:sp>
        <p:nvSpPr>
          <p:cNvPr id="8" name="processing">
            <a:extLst xmlns:a="http://schemas.openxmlformats.org/drawingml/2006/main">
              <a:ext uri="{FF2B5EF4-FFF2-40B4-BE49-F238E27FC236}">
                <a16:creationId xmlns:a16="http://schemas.microsoft.com/office/drawing/2014/main" id="{274CD354-6CB2-46F3-B617-75AF2FF935BB}"/>
              </a:ext>
            </a:extLst>
          </p:cNvPr>
          <p:cNvSpPr>
            <a:spLocks xmlns:a="http://schemas.openxmlformats.org/drawingml/2006/main"/>
          </p:cNvSpPr>
          <p:nvPr/>
        </p:nvSpPr>
        <p:spPr>
          <a:xfrm xmlns:a="http://schemas.openxmlformats.org/drawingml/2006/main">
            <a:off x="2584800" y="1350000"/>
            <a:ext cx="792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Malgun Gothic"/>
                <a:ea typeface="Malgun Gothic"/>
                <a:cs typeface="Malgun Gothic"/>
              </a:defRPr>
            </a:pPr>
            <a:r>
              <a:rPr sz="850" b="0">
                <a:solidFill>
                  <a:srgbClr val="1F2A30"/>
                </a:solidFill>
                <a:latin typeface="Malgun Gothic"/>
                <a:ea typeface="Malgun Gothic"/>
                <a:cs typeface="Malgun Gothic"/>
              </a:rPr>
              <a:t>가공비</a:t>
            </a:r>
          </a:p>
        </p:txBody>
      </p:sp>
      <p:sp>
        <p:nvSpPr>
          <p:cNvPr id="9" name="symbol-p">
            <a:extLst xmlns:a="http://schemas.openxmlformats.org/drawingml/2006/main">
              <a:ext uri="{FF2B5EF4-FFF2-40B4-BE49-F238E27FC236}">
                <a16:creationId xmlns:a16="http://schemas.microsoft.com/office/drawing/2014/main" id="{F7D9AF37-FF3B-4884-9845-F512FE8F83C9}"/>
              </a:ext>
            </a:extLst>
          </p:cNvPr>
          <p:cNvSpPr>
            <a:spLocks xmlns:a="http://schemas.openxmlformats.org/drawingml/2006/main"/>
          </p:cNvSpPr>
          <p:nvPr/>
        </p:nvSpPr>
        <p:spPr>
          <a:xfrm xmlns:a="http://schemas.openxmlformats.org/drawingml/2006/main">
            <a:off x="2710800" y="1512000"/>
            <a:ext cx="540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C</a:t>
            </a:r>
            <a:r>
              <a:rPr sz="1200" b="0" i="1" baseline="-25000">
                <a:solidFill>
                  <a:srgbClr val="1F2A30"/>
                </a:solidFill>
                <a:latin typeface="Arial"/>
                <a:ea typeface="Arial"/>
                <a:cs typeface="Arial"/>
              </a:rPr>
              <a:t>p</a:t>
            </a:r>
          </a:p>
        </p:txBody>
      </p:sp>
      <p:sp>
        <p:nvSpPr>
          <p:cNvPr id="10" name="sum">
            <a:extLst xmlns:a="http://schemas.openxmlformats.org/drawingml/2006/main">
              <a:ext uri="{FF2B5EF4-FFF2-40B4-BE49-F238E27FC236}">
                <a16:creationId xmlns:a16="http://schemas.microsoft.com/office/drawing/2014/main" id="{DB28D98A-5654-4C85-8116-4B1D9F986F3C}"/>
              </a:ext>
            </a:extLst>
          </p:cNvPr>
          <p:cNvSpPr>
            <a:spLocks xmlns:a="http://schemas.openxmlformats.org/drawingml/2006/main"/>
          </p:cNvSpPr>
          <p:nvPr/>
        </p:nvSpPr>
        <p:spPr>
          <a:xfrm xmlns:a="http://schemas.openxmlformats.org/drawingml/2006/main">
            <a:off x="3621600" y="964800"/>
            <a:ext cx="234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00" b="0">
                <a:solidFill>
                  <a:srgbClr val="1F2A30"/>
                </a:solidFill>
                <a:latin typeface="Arial"/>
                <a:ea typeface="Arial"/>
                <a:cs typeface="Arial"/>
              </a:defRPr>
            </a:pPr>
            <a:r>
              <a:rPr sz="1400" b="0">
                <a:solidFill>
                  <a:srgbClr val="1F2A30"/>
                </a:solidFill>
                <a:latin typeface="Arial"/>
                <a:ea typeface="Arial"/>
                <a:cs typeface="Arial"/>
              </a:rPr>
              <a:t>+</a:t>
            </a:r>
          </a:p>
        </p:txBody>
      </p:sp>
      <p:sp>
        <p:nvSpPr>
          <p:cNvPr id="11" name="overheads-1">
            <a:extLst xmlns:a="http://schemas.openxmlformats.org/drawingml/2006/main">
              <a:ext uri="{FF2B5EF4-FFF2-40B4-BE49-F238E27FC236}">
                <a16:creationId xmlns:a16="http://schemas.microsoft.com/office/drawing/2014/main" id="{AA9A2723-ABE5-4082-80B6-048D8005FDCE}"/>
              </a:ext>
            </a:extLst>
          </p:cNvPr>
          <p:cNvSpPr>
            <a:spLocks xmlns:a="http://schemas.openxmlformats.org/drawingml/2006/main"/>
          </p:cNvSpPr>
          <p:nvPr/>
        </p:nvSpPr>
        <p:spPr>
          <a:xfrm xmlns:a="http://schemas.openxmlformats.org/drawingml/2006/main">
            <a:off x="4176000" y="907200"/>
            <a:ext cx="738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Malgun Gothic"/>
                <a:ea typeface="Malgun Gothic"/>
                <a:cs typeface="Malgun Gothic"/>
              </a:defRPr>
            </a:pPr>
            <a:r>
              <a:rPr sz="950" b="0">
                <a:solidFill>
                  <a:srgbClr val="1F2A30"/>
                </a:solidFill>
                <a:latin typeface="Malgun Gothic"/>
                <a:ea typeface="Malgun Gothic"/>
                <a:cs typeface="Malgun Gothic"/>
              </a:rPr>
              <a:t>간접비 및</a:t>
            </a:r>
          </a:p>
        </p:txBody>
      </p:sp>
      <p:sp>
        <p:nvSpPr>
          <p:cNvPr id="12" name="overheads-2">
            <a:extLst xmlns:a="http://schemas.openxmlformats.org/drawingml/2006/main">
              <a:ext uri="{FF2B5EF4-FFF2-40B4-BE49-F238E27FC236}">
                <a16:creationId xmlns:a16="http://schemas.microsoft.com/office/drawing/2014/main" id="{0311E432-F570-41F6-AB77-7313954921D7}"/>
              </a:ext>
            </a:extLst>
          </p:cNvPr>
          <p:cNvSpPr>
            <a:spLocks xmlns:a="http://schemas.openxmlformats.org/drawingml/2006/main"/>
          </p:cNvSpPr>
          <p:nvPr/>
        </p:nvSpPr>
        <p:spPr>
          <a:xfrm xmlns:a="http://schemas.openxmlformats.org/drawingml/2006/main">
            <a:off x="4140000" y="1062000"/>
            <a:ext cx="810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Malgun Gothic"/>
                <a:ea typeface="Malgun Gothic"/>
                <a:cs typeface="Malgun Gothic"/>
              </a:defRPr>
            </a:pPr>
            <a:r>
              <a:rPr sz="950" b="0">
                <a:solidFill>
                  <a:srgbClr val="1F2A30"/>
                </a:solidFill>
                <a:latin typeface="Malgun Gothic"/>
                <a:ea typeface="Malgun Gothic"/>
                <a:cs typeface="Malgun Gothic"/>
              </a:rPr>
              <a:t>마진</a:t>
            </a:r>
          </a:p>
        </p:txBody>
      </p:sp>
      <p:sp>
        <p:nvSpPr>
          <p:cNvPr id="13" name="selling-price-1">
            <a:extLst xmlns:a="http://schemas.openxmlformats.org/drawingml/2006/main">
              <a:ext uri="{FF2B5EF4-FFF2-40B4-BE49-F238E27FC236}">
                <a16:creationId xmlns:a16="http://schemas.microsoft.com/office/drawing/2014/main" id="{63E530D8-02EC-403B-9DA1-64F6E1FA2073}"/>
              </a:ext>
            </a:extLst>
          </p:cNvPr>
          <p:cNvSpPr>
            <a:spLocks xmlns:a="http://schemas.openxmlformats.org/drawingml/2006/main"/>
          </p:cNvSpPr>
          <p:nvPr/>
        </p:nvSpPr>
        <p:spPr>
          <a:xfrm xmlns:a="http://schemas.openxmlformats.org/drawingml/2006/main">
            <a:off x="5223600" y="838800"/>
            <a:ext cx="612000" cy="15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Malgun Gothic"/>
                <a:ea typeface="Malgun Gothic"/>
                <a:cs typeface="Malgun Gothic"/>
              </a:defRPr>
            </a:pPr>
            <a:r>
              <a:rPr sz="950" b="0">
                <a:solidFill>
                  <a:srgbClr val="1F2A30"/>
                </a:solidFill>
                <a:latin typeface="Malgun Gothic"/>
                <a:ea typeface="Malgun Gothic"/>
                <a:cs typeface="Malgun Gothic"/>
              </a:rPr>
              <a:t>판매</a:t>
            </a:r>
          </a:p>
        </p:txBody>
      </p:sp>
      <p:sp>
        <p:nvSpPr>
          <p:cNvPr id="14" name="selling-price-2">
            <a:extLst xmlns:a="http://schemas.openxmlformats.org/drawingml/2006/main">
              <a:ext uri="{FF2B5EF4-FFF2-40B4-BE49-F238E27FC236}">
                <a16:creationId xmlns:a16="http://schemas.microsoft.com/office/drawing/2014/main" id="{C9DEFEF9-DB07-4103-9C22-83E15CE854B9}"/>
              </a:ext>
            </a:extLst>
          </p:cNvPr>
          <p:cNvSpPr>
            <a:spLocks xmlns:a="http://schemas.openxmlformats.org/drawingml/2006/main"/>
          </p:cNvSpPr>
          <p:nvPr/>
        </p:nvSpPr>
        <p:spPr>
          <a:xfrm xmlns:a="http://schemas.openxmlformats.org/drawingml/2006/main">
            <a:off x="5223600" y="975600"/>
            <a:ext cx="612000" cy="15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0">
                <a:solidFill>
                  <a:srgbClr val="1F2A30"/>
                </a:solidFill>
                <a:latin typeface="Malgun Gothic"/>
                <a:ea typeface="Malgun Gothic"/>
                <a:cs typeface="Malgun Gothic"/>
              </a:defRPr>
            </a:pPr>
            <a:r>
              <a:rPr sz="950" b="0">
                <a:solidFill>
                  <a:srgbClr val="1F2A30"/>
                </a:solidFill>
                <a:latin typeface="Malgun Gothic"/>
                <a:ea typeface="Malgun Gothic"/>
                <a:cs typeface="Malgun Gothic"/>
              </a:rPr>
              <a:t>단가</a:t>
            </a:r>
          </a:p>
        </p:txBody>
      </p:sp>
      <p:sp>
        <p:nvSpPr>
          <p:cNvPr id="15" name="symbol-price">
            <a:extLst xmlns:a="http://schemas.openxmlformats.org/drawingml/2006/main">
              <a:ext uri="{FF2B5EF4-FFF2-40B4-BE49-F238E27FC236}">
                <a16:creationId xmlns:a16="http://schemas.microsoft.com/office/drawing/2014/main" id="{FE050D13-B4BB-4DFF-8032-87EC03CCF8FA}"/>
              </a:ext>
            </a:extLst>
          </p:cNvPr>
          <p:cNvSpPr>
            <a:spLocks xmlns:a="http://schemas.openxmlformats.org/drawingml/2006/main"/>
          </p:cNvSpPr>
          <p:nvPr/>
        </p:nvSpPr>
        <p:spPr>
          <a:xfrm xmlns:a="http://schemas.openxmlformats.org/drawingml/2006/main">
            <a:off x="5374800" y="1123200"/>
            <a:ext cx="306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P</a:t>
            </a:r>
          </a:p>
        </p:txBody>
      </p:sp>
    </p:spTree>
    <p:extLst>
      <p:ext uri="{BB962C8B-B14F-4D97-AF65-F5344CB8AC3E}">
        <p14:creationId xmlns:p14="http://schemas.microsoft.com/office/powerpoint/2010/main" val="1981455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COMET</dc:creator>
  <lastModifiedBy>COMET</lastModifiedBy>
  <dc:title>Presentation</dc:title>
  <dcterms:created xsi:type="dcterms:W3CDTF">2026-09-13T09:33:34.7040000Z</dcterms:created>
  <dcterms:modified xsi:type="dcterms:W3CDTF">2026-09-13T09:33:34.7040000Z</dcterms:modified>
</coreProperties>
</file>